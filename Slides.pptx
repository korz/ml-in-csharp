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8" r:id="rId1"/>
  </p:sldMasterIdLst>
  <p:notesMasterIdLst>
    <p:notesMasterId r:id="rId51"/>
  </p:notesMasterIdLst>
  <p:sldIdLst>
    <p:sldId id="256" r:id="rId2"/>
    <p:sldId id="305" r:id="rId3"/>
    <p:sldId id="272" r:id="rId4"/>
    <p:sldId id="308" r:id="rId5"/>
    <p:sldId id="258" r:id="rId6"/>
    <p:sldId id="266" r:id="rId7"/>
    <p:sldId id="309" r:id="rId8"/>
    <p:sldId id="275" r:id="rId9"/>
    <p:sldId id="278" r:id="rId10"/>
    <p:sldId id="291" r:id="rId11"/>
    <p:sldId id="313" r:id="rId12"/>
    <p:sldId id="297" r:id="rId13"/>
    <p:sldId id="314" r:id="rId14"/>
    <p:sldId id="315" r:id="rId15"/>
    <p:sldId id="316" r:id="rId16"/>
    <p:sldId id="298" r:id="rId17"/>
    <p:sldId id="264" r:id="rId18"/>
    <p:sldId id="283" r:id="rId19"/>
    <p:sldId id="280" r:id="rId20"/>
    <p:sldId id="286" r:id="rId21"/>
    <p:sldId id="270" r:id="rId22"/>
    <p:sldId id="287" r:id="rId23"/>
    <p:sldId id="288" r:id="rId24"/>
    <p:sldId id="274" r:id="rId25"/>
    <p:sldId id="276" r:id="rId26"/>
    <p:sldId id="277" r:id="rId27"/>
    <p:sldId id="303" r:id="rId28"/>
    <p:sldId id="279" r:id="rId29"/>
    <p:sldId id="289" r:id="rId30"/>
    <p:sldId id="312" r:id="rId31"/>
    <p:sldId id="317" r:id="rId32"/>
    <p:sldId id="310" r:id="rId33"/>
    <p:sldId id="290" r:id="rId34"/>
    <p:sldId id="265" r:id="rId35"/>
    <p:sldId id="284" r:id="rId36"/>
    <p:sldId id="285" r:id="rId37"/>
    <p:sldId id="302" r:id="rId38"/>
    <p:sldId id="292" r:id="rId39"/>
    <p:sldId id="293" r:id="rId40"/>
    <p:sldId id="294" r:id="rId41"/>
    <p:sldId id="271" r:id="rId42"/>
    <p:sldId id="318" r:id="rId43"/>
    <p:sldId id="296" r:id="rId44"/>
    <p:sldId id="319" r:id="rId45"/>
    <p:sldId id="295" r:id="rId46"/>
    <p:sldId id="306" r:id="rId47"/>
    <p:sldId id="281" r:id="rId48"/>
    <p:sldId id="311" r:id="rId49"/>
    <p:sldId id="282"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76" autoAdjust="0"/>
    <p:restoredTop sz="94660"/>
  </p:normalViewPr>
  <p:slideViewPr>
    <p:cSldViewPr snapToGrid="0">
      <p:cViewPr varScale="1">
        <p:scale>
          <a:sx n="143" d="100"/>
          <a:sy n="143" d="100"/>
        </p:scale>
        <p:origin x="144" y="4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7D51FC-904E-4E53-AF37-D12F576082AE}" type="datetimeFigureOut">
              <a:rPr lang="en-US" smtClean="0"/>
              <a:t>3/15/2026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221DE6-925B-49F7-B05D-FA348371170C}" type="slidenum">
              <a:rPr lang="en-US" smtClean="0"/>
              <a:t>‹#›</a:t>
            </a:fld>
            <a:endParaRPr lang="en-US"/>
          </a:p>
        </p:txBody>
      </p:sp>
    </p:spTree>
    <p:extLst>
      <p:ext uri="{BB962C8B-B14F-4D97-AF65-F5344CB8AC3E}">
        <p14:creationId xmlns:p14="http://schemas.microsoft.com/office/powerpoint/2010/main" val="2670730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221DE6-925B-49F7-B05D-FA348371170C}" type="slidenum">
              <a:rPr lang="en-US" smtClean="0"/>
              <a:t>10</a:t>
            </a:fld>
            <a:endParaRPr lang="en-US"/>
          </a:p>
        </p:txBody>
      </p:sp>
    </p:spTree>
    <p:extLst>
      <p:ext uri="{BB962C8B-B14F-4D97-AF65-F5344CB8AC3E}">
        <p14:creationId xmlns:p14="http://schemas.microsoft.com/office/powerpoint/2010/main" val="323744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221DE6-925B-49F7-B05D-FA348371170C}" type="slidenum">
              <a:rPr lang="en-US" smtClean="0"/>
              <a:t>19</a:t>
            </a:fld>
            <a:endParaRPr lang="en-US"/>
          </a:p>
        </p:txBody>
      </p:sp>
    </p:spTree>
    <p:extLst>
      <p:ext uri="{BB962C8B-B14F-4D97-AF65-F5344CB8AC3E}">
        <p14:creationId xmlns:p14="http://schemas.microsoft.com/office/powerpoint/2010/main" val="39163994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https://github.com/SciSharp/Keras.NET</a:t>
            </a:r>
          </a:p>
        </p:txBody>
      </p:sp>
      <p:sp>
        <p:nvSpPr>
          <p:cNvPr id="4" name="Slide Number Placeholder 3"/>
          <p:cNvSpPr>
            <a:spLocks noGrp="1"/>
          </p:cNvSpPr>
          <p:nvPr>
            <p:ph type="sldNum" sz="quarter" idx="5"/>
          </p:nvPr>
        </p:nvSpPr>
        <p:spPr/>
        <p:txBody>
          <a:bodyPr/>
          <a:lstStyle/>
          <a:p>
            <a:fld id="{DC221DE6-925B-49F7-B05D-FA348371170C}" type="slidenum">
              <a:rPr lang="en-US" smtClean="0"/>
              <a:t>21</a:t>
            </a:fld>
            <a:endParaRPr lang="en-US"/>
          </a:p>
        </p:txBody>
      </p:sp>
    </p:spTree>
    <p:extLst>
      <p:ext uri="{BB962C8B-B14F-4D97-AF65-F5344CB8AC3E}">
        <p14:creationId xmlns:p14="http://schemas.microsoft.com/office/powerpoint/2010/main" val="4042992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221DE6-925B-49F7-B05D-FA348371170C}" type="slidenum">
              <a:rPr lang="en-US" smtClean="0"/>
              <a:t>23</a:t>
            </a:fld>
            <a:endParaRPr lang="en-US"/>
          </a:p>
        </p:txBody>
      </p:sp>
    </p:spTree>
    <p:extLst>
      <p:ext uri="{BB962C8B-B14F-4D97-AF65-F5344CB8AC3E}">
        <p14:creationId xmlns:p14="http://schemas.microsoft.com/office/powerpoint/2010/main" val="14773357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221DE6-925B-49F7-B05D-FA348371170C}" type="slidenum">
              <a:rPr lang="en-US" smtClean="0"/>
              <a:t>36</a:t>
            </a:fld>
            <a:endParaRPr lang="en-US"/>
          </a:p>
        </p:txBody>
      </p:sp>
    </p:spTree>
    <p:extLst>
      <p:ext uri="{BB962C8B-B14F-4D97-AF65-F5344CB8AC3E}">
        <p14:creationId xmlns:p14="http://schemas.microsoft.com/office/powerpoint/2010/main" val="5693314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ADDF1A7-CF1E-4B5C-8DE7-17EDEC5392BB}"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C6851-B2F5-4527-9A08-1F8487B8083E}" type="slidenum">
              <a:rPr lang="en-US" smtClean="0"/>
              <a:t>‹#›</a:t>
            </a:fld>
            <a:endParaRPr lang="en-US"/>
          </a:p>
        </p:txBody>
      </p:sp>
    </p:spTree>
    <p:extLst>
      <p:ext uri="{BB962C8B-B14F-4D97-AF65-F5344CB8AC3E}">
        <p14:creationId xmlns:p14="http://schemas.microsoft.com/office/powerpoint/2010/main" val="76020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AADDF1A7-CF1E-4B5C-8DE7-17EDEC5392BB}"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C6851-B2F5-4527-9A08-1F8487B8083E}" type="slidenum">
              <a:rPr lang="en-US" smtClean="0"/>
              <a:t>‹#›</a:t>
            </a:fld>
            <a:endParaRPr lang="en-US"/>
          </a:p>
        </p:txBody>
      </p:sp>
    </p:spTree>
    <p:extLst>
      <p:ext uri="{BB962C8B-B14F-4D97-AF65-F5344CB8AC3E}">
        <p14:creationId xmlns:p14="http://schemas.microsoft.com/office/powerpoint/2010/main" val="9435262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DDF1A7-CF1E-4B5C-8DE7-17EDEC5392BB}"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C6851-B2F5-4527-9A08-1F8487B8083E}" type="slidenum">
              <a:rPr lang="en-US" smtClean="0"/>
              <a:t>‹#›</a:t>
            </a:fld>
            <a:endParaRPr lang="en-US"/>
          </a:p>
        </p:txBody>
      </p:sp>
    </p:spTree>
    <p:extLst>
      <p:ext uri="{BB962C8B-B14F-4D97-AF65-F5344CB8AC3E}">
        <p14:creationId xmlns:p14="http://schemas.microsoft.com/office/powerpoint/2010/main" val="2293808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ADDF1A7-CF1E-4B5C-8DE7-17EDEC5392BB}"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9C6851-B2F5-4527-9A08-1F8487B8083E}" type="slidenum">
              <a:rPr lang="en-US" smtClean="0"/>
              <a:t>‹#›</a:t>
            </a:fld>
            <a:endParaRPr lang="en-US"/>
          </a:p>
        </p:txBody>
      </p:sp>
    </p:spTree>
    <p:extLst>
      <p:ext uri="{BB962C8B-B14F-4D97-AF65-F5344CB8AC3E}">
        <p14:creationId xmlns:p14="http://schemas.microsoft.com/office/powerpoint/2010/main" val="302541441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ADDF1A7-CF1E-4B5C-8DE7-17EDEC5392BB}" type="datetimeFigureOut">
              <a:rPr lang="en-US" smtClean="0"/>
              <a:t>3/15/2026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D9C6851-B2F5-4527-9A08-1F8487B8083E}" type="slidenum">
              <a:rPr lang="en-US" smtClean="0"/>
              <a:t>‹#›</a:t>
            </a:fld>
            <a:endParaRPr lang="en-US"/>
          </a:p>
        </p:txBody>
      </p:sp>
    </p:spTree>
    <p:extLst>
      <p:ext uri="{BB962C8B-B14F-4D97-AF65-F5344CB8AC3E}">
        <p14:creationId xmlns:p14="http://schemas.microsoft.com/office/powerpoint/2010/main" val="154273915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AADDF1A7-CF1E-4B5C-8DE7-17EDEC5392BB}" type="datetimeFigureOut">
              <a:rPr lang="en-US" smtClean="0"/>
              <a:t>3/15/2026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DD9C6851-B2F5-4527-9A08-1F8487B8083E}" type="slidenum">
              <a:rPr lang="en-US" smtClean="0"/>
              <a:t>‹#›</a:t>
            </a:fld>
            <a:endParaRPr lang="en-US"/>
          </a:p>
        </p:txBody>
      </p:sp>
    </p:spTree>
    <p:extLst>
      <p:ext uri="{BB962C8B-B14F-4D97-AF65-F5344CB8AC3E}">
        <p14:creationId xmlns:p14="http://schemas.microsoft.com/office/powerpoint/2010/main" val="12924371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ADDF1A7-CF1E-4B5C-8DE7-17EDEC5392BB}" type="datetimeFigureOut">
              <a:rPr lang="en-US" smtClean="0"/>
              <a:t>3/15/2026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DD9C6851-B2F5-4527-9A08-1F8487B8083E}" type="slidenum">
              <a:rPr lang="en-US" smtClean="0"/>
              <a:t>‹#›</a:t>
            </a:fld>
            <a:endParaRPr lang="en-US"/>
          </a:p>
        </p:txBody>
      </p:sp>
    </p:spTree>
    <p:extLst>
      <p:ext uri="{BB962C8B-B14F-4D97-AF65-F5344CB8AC3E}">
        <p14:creationId xmlns:p14="http://schemas.microsoft.com/office/powerpoint/2010/main" val="1117584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AADDF1A7-CF1E-4B5C-8DE7-17EDEC5392BB}" type="datetimeFigureOut">
              <a:rPr lang="en-US" smtClean="0"/>
              <a:t>3/15/2026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DD9C6851-B2F5-4527-9A08-1F8487B8083E}" type="slidenum">
              <a:rPr lang="en-US" smtClean="0"/>
              <a:t>‹#›</a:t>
            </a:fld>
            <a:endParaRPr lang="en-US"/>
          </a:p>
        </p:txBody>
      </p:sp>
    </p:spTree>
    <p:extLst>
      <p:ext uri="{BB962C8B-B14F-4D97-AF65-F5344CB8AC3E}">
        <p14:creationId xmlns:p14="http://schemas.microsoft.com/office/powerpoint/2010/main" val="57144835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DDF1A7-CF1E-4B5C-8DE7-17EDEC5392BB}"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9C6851-B2F5-4527-9A08-1F8487B8083E}" type="slidenum">
              <a:rPr lang="en-US" smtClean="0"/>
              <a:t>‹#›</a:t>
            </a:fld>
            <a:endParaRPr lang="en-US"/>
          </a:p>
        </p:txBody>
      </p:sp>
    </p:spTree>
    <p:extLst>
      <p:ext uri="{BB962C8B-B14F-4D97-AF65-F5344CB8AC3E}">
        <p14:creationId xmlns:p14="http://schemas.microsoft.com/office/powerpoint/2010/main" val="1215482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DDF1A7-CF1E-4B5C-8DE7-17EDEC5392BB}"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9C6851-B2F5-4527-9A08-1F8487B8083E}" type="slidenum">
              <a:rPr lang="en-US" smtClean="0"/>
              <a:t>‹#›</a:t>
            </a:fld>
            <a:endParaRPr lang="en-US"/>
          </a:p>
        </p:txBody>
      </p:sp>
    </p:spTree>
    <p:extLst>
      <p:ext uri="{BB962C8B-B14F-4D97-AF65-F5344CB8AC3E}">
        <p14:creationId xmlns:p14="http://schemas.microsoft.com/office/powerpoint/2010/main" val="4254812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DF1A7-CF1E-4B5C-8DE7-17EDEC5392BB}"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C6851-B2F5-4527-9A08-1F8487B8083E}" type="slidenum">
              <a:rPr lang="en-US" smtClean="0"/>
              <a:t>‹#›</a:t>
            </a:fld>
            <a:endParaRPr lang="en-US"/>
          </a:p>
        </p:txBody>
      </p:sp>
    </p:spTree>
    <p:extLst>
      <p:ext uri="{BB962C8B-B14F-4D97-AF65-F5344CB8AC3E}">
        <p14:creationId xmlns:p14="http://schemas.microsoft.com/office/powerpoint/2010/main" val="11993483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DF1A7-CF1E-4B5C-8DE7-17EDEC5392BB}"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C6851-B2F5-4527-9A08-1F8487B8083E}"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9102688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DDF1A7-CF1E-4B5C-8DE7-17EDEC5392BB}"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C6851-B2F5-4527-9A08-1F8487B8083E}" type="slidenum">
              <a:rPr lang="en-US" smtClean="0"/>
              <a:t>‹#›</a:t>
            </a:fld>
            <a:endParaRPr lang="en-US"/>
          </a:p>
        </p:txBody>
      </p:sp>
    </p:spTree>
    <p:extLst>
      <p:ext uri="{BB962C8B-B14F-4D97-AF65-F5344CB8AC3E}">
        <p14:creationId xmlns:p14="http://schemas.microsoft.com/office/powerpoint/2010/main" val="2751664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ADDF1A7-CF1E-4B5C-8DE7-17EDEC5392BB}" type="datetimeFigureOut">
              <a:rPr lang="en-US" smtClean="0"/>
              <a:t>3/15/2026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C6851-B2F5-4527-9A08-1F8487B8083E}" type="slidenum">
              <a:rPr lang="en-US" smtClean="0"/>
              <a:t>‹#›</a:t>
            </a:fld>
            <a:endParaRPr lang="en-US"/>
          </a:p>
        </p:txBody>
      </p:sp>
    </p:spTree>
    <p:extLst>
      <p:ext uri="{BB962C8B-B14F-4D97-AF65-F5344CB8AC3E}">
        <p14:creationId xmlns:p14="http://schemas.microsoft.com/office/powerpoint/2010/main" val="40778539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ADDF1A7-CF1E-4B5C-8DE7-17EDEC5392BB}" type="datetimeFigureOut">
              <a:rPr lang="en-US" smtClean="0"/>
              <a:t>3/15/2026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C6851-B2F5-4527-9A08-1F8487B8083E}" type="slidenum">
              <a:rPr lang="en-US" smtClean="0"/>
              <a:t>‹#›</a:t>
            </a:fld>
            <a:endParaRPr lang="en-US"/>
          </a:p>
        </p:txBody>
      </p:sp>
    </p:spTree>
    <p:extLst>
      <p:ext uri="{BB962C8B-B14F-4D97-AF65-F5344CB8AC3E}">
        <p14:creationId xmlns:p14="http://schemas.microsoft.com/office/powerpoint/2010/main" val="22078695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DDF1A7-CF1E-4B5C-8DE7-17EDEC5392BB}"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C6851-B2F5-4527-9A08-1F8487B8083E}" type="slidenum">
              <a:rPr lang="en-US" smtClean="0"/>
              <a:t>‹#›</a:t>
            </a:fld>
            <a:endParaRPr lang="en-US"/>
          </a:p>
        </p:txBody>
      </p:sp>
    </p:spTree>
    <p:extLst>
      <p:ext uri="{BB962C8B-B14F-4D97-AF65-F5344CB8AC3E}">
        <p14:creationId xmlns:p14="http://schemas.microsoft.com/office/powerpoint/2010/main" val="10947838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DDF1A7-CF1E-4B5C-8DE7-17EDEC5392BB}"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C6851-B2F5-4527-9A08-1F8487B8083E}" type="slidenum">
              <a:rPr lang="en-US" smtClean="0"/>
              <a:t>‹#›</a:t>
            </a:fld>
            <a:endParaRPr lang="en-US"/>
          </a:p>
        </p:txBody>
      </p:sp>
    </p:spTree>
    <p:extLst>
      <p:ext uri="{BB962C8B-B14F-4D97-AF65-F5344CB8AC3E}">
        <p14:creationId xmlns:p14="http://schemas.microsoft.com/office/powerpoint/2010/main" val="2164557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ADDF1A7-CF1E-4B5C-8DE7-17EDEC5392BB}" type="datetimeFigureOut">
              <a:rPr lang="en-US" smtClean="0"/>
              <a:t>3/15/2026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D9C6851-B2F5-4527-9A08-1F8487B8083E}" type="slidenum">
              <a:rPr lang="en-US" smtClean="0"/>
              <a:t>‹#›</a:t>
            </a:fld>
            <a:endParaRPr lang="en-US"/>
          </a:p>
        </p:txBody>
      </p:sp>
    </p:spTree>
    <p:extLst>
      <p:ext uri="{BB962C8B-B14F-4D97-AF65-F5344CB8AC3E}">
        <p14:creationId xmlns:p14="http://schemas.microsoft.com/office/powerpoint/2010/main" val="1899557645"/>
      </p:ext>
    </p:extLst>
  </p:cSld>
  <p:clrMap bg1="dk1" tx1="lt1" bg2="dk2" tx2="lt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 id="2147483850" r:id="rId12"/>
    <p:sldLayoutId id="2147483851" r:id="rId13"/>
    <p:sldLayoutId id="2147483852" r:id="rId14"/>
    <p:sldLayoutId id="2147483853" r:id="rId15"/>
    <p:sldLayoutId id="2147483854" r:id="rId16"/>
    <p:sldLayoutId id="214748385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gif"/><Relationship Id="rId4" Type="http://schemas.openxmlformats.org/officeDocument/2006/relationships/image" Target="../media/image11.gif"/></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2.gif"/></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19.gif"/><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4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hyperlink" Target="https://github.com/SciSharp" TargetMode="External"/><Relationship Id="rId7" Type="http://schemas.openxmlformats.org/officeDocument/2006/relationships/hyperlink" Target="https://learn.microsoft.com/en-us/dotnet/machine-learning/tutorials/" TargetMode="External"/><Relationship Id="rId2" Type="http://schemas.openxmlformats.org/officeDocument/2006/relationships/hyperlink" Target="https://scisharp.github.io/SciSharp/" TargetMode="External"/><Relationship Id="rId1" Type="http://schemas.openxmlformats.org/officeDocument/2006/relationships/slideLayout" Target="../slideLayouts/slideLayout2.xml"/><Relationship Id="rId6" Type="http://schemas.openxmlformats.org/officeDocument/2006/relationships/hyperlink" Target="https://dotnet.microsoft.com/en-us/apps/ai/ml-dotnet" TargetMode="External"/><Relationship Id="rId5" Type="http://schemas.openxmlformats.org/officeDocument/2006/relationships/hyperlink" Target="https://github.com/microsoft/onnxruntime" TargetMode="External"/><Relationship Id="rId4" Type="http://schemas.openxmlformats.org/officeDocument/2006/relationships/hyperlink" Target="https://onnxruntime.ai/"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59E33-3886-423F-A095-99E874DC862A}"/>
              </a:ext>
            </a:extLst>
          </p:cNvPr>
          <p:cNvSpPr>
            <a:spLocks noGrp="1"/>
          </p:cNvSpPr>
          <p:nvPr>
            <p:ph type="ctrTitle"/>
          </p:nvPr>
        </p:nvSpPr>
        <p:spPr/>
        <p:txBody>
          <a:bodyPr/>
          <a:lstStyle/>
          <a:p>
            <a:r>
              <a:rPr lang="en-US" dirty="0"/>
              <a:t>Machine Learning in C#</a:t>
            </a:r>
          </a:p>
        </p:txBody>
      </p:sp>
      <p:sp>
        <p:nvSpPr>
          <p:cNvPr id="3" name="Subtitle 2">
            <a:extLst>
              <a:ext uri="{FF2B5EF4-FFF2-40B4-BE49-F238E27FC236}">
                <a16:creationId xmlns:a16="http://schemas.microsoft.com/office/drawing/2014/main" id="{04430C75-FE75-487E-BC13-A29E8989B77F}"/>
              </a:ext>
            </a:extLst>
          </p:cNvPr>
          <p:cNvSpPr>
            <a:spLocks noGrp="1"/>
          </p:cNvSpPr>
          <p:nvPr>
            <p:ph type="subTitle" idx="1"/>
          </p:nvPr>
        </p:nvSpPr>
        <p:spPr/>
        <p:txBody>
          <a:bodyPr/>
          <a:lstStyle/>
          <a:p>
            <a:r>
              <a:rPr lang="en-US" dirty="0"/>
              <a:t>Brian Korzynski</a:t>
            </a:r>
          </a:p>
        </p:txBody>
      </p:sp>
    </p:spTree>
    <p:extLst>
      <p:ext uri="{BB962C8B-B14F-4D97-AF65-F5344CB8AC3E}">
        <p14:creationId xmlns:p14="http://schemas.microsoft.com/office/powerpoint/2010/main" val="2859386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3E17D-B0BF-4AFC-B718-F63E93C6F67C}"/>
              </a:ext>
            </a:extLst>
          </p:cNvPr>
          <p:cNvSpPr>
            <a:spLocks noGrp="1"/>
          </p:cNvSpPr>
          <p:nvPr>
            <p:ph type="title"/>
          </p:nvPr>
        </p:nvSpPr>
        <p:spPr/>
        <p:txBody>
          <a:bodyPr/>
          <a:lstStyle/>
          <a:p>
            <a:r>
              <a:rPr lang="en-US" dirty="0"/>
              <a:t>About Me</a:t>
            </a:r>
          </a:p>
        </p:txBody>
      </p:sp>
      <p:sp>
        <p:nvSpPr>
          <p:cNvPr id="4" name="Content Placeholder 3">
            <a:extLst>
              <a:ext uri="{FF2B5EF4-FFF2-40B4-BE49-F238E27FC236}">
                <a16:creationId xmlns:a16="http://schemas.microsoft.com/office/drawing/2014/main" id="{2CD54609-C2F3-4260-8B18-B49B9FD09226}"/>
              </a:ext>
            </a:extLst>
          </p:cNvPr>
          <p:cNvSpPr>
            <a:spLocks noGrp="1"/>
          </p:cNvSpPr>
          <p:nvPr>
            <p:ph sz="half" idx="1"/>
          </p:nvPr>
        </p:nvSpPr>
        <p:spPr/>
        <p:txBody>
          <a:bodyPr>
            <a:normAutofit fontScale="92500" lnSpcReduction="20000"/>
          </a:bodyPr>
          <a:lstStyle/>
          <a:p>
            <a:r>
              <a:rPr lang="en-US" dirty="0"/>
              <a:t>Chief Executive Officer – Intelligent Document Processing Solutions (IDPS)</a:t>
            </a:r>
          </a:p>
        </p:txBody>
      </p:sp>
      <p:sp>
        <p:nvSpPr>
          <p:cNvPr id="5" name="Content Placeholder 4">
            <a:extLst>
              <a:ext uri="{FF2B5EF4-FFF2-40B4-BE49-F238E27FC236}">
                <a16:creationId xmlns:a16="http://schemas.microsoft.com/office/drawing/2014/main" id="{A45B6BF2-E37F-429A-9E6F-FA1C5083FD35}"/>
              </a:ext>
            </a:extLst>
          </p:cNvPr>
          <p:cNvSpPr>
            <a:spLocks noGrp="1"/>
          </p:cNvSpPr>
          <p:nvPr>
            <p:ph sz="half" idx="2"/>
          </p:nvPr>
        </p:nvSpPr>
        <p:spPr/>
        <p:txBody>
          <a:bodyPr>
            <a:normAutofit fontScale="92500" lnSpcReduction="20000"/>
          </a:bodyPr>
          <a:lstStyle/>
          <a:p>
            <a:r>
              <a:rPr lang="en-US" dirty="0"/>
              <a:t>Professional Developer for 18+ years</a:t>
            </a:r>
          </a:p>
          <a:p>
            <a:pPr lvl="1"/>
            <a:r>
              <a:rPr lang="en-US" dirty="0"/>
              <a:t>Applications:</a:t>
            </a:r>
          </a:p>
          <a:p>
            <a:pPr lvl="2"/>
            <a:r>
              <a:rPr lang="en-US" dirty="0"/>
              <a:t>Windows Forms</a:t>
            </a:r>
          </a:p>
          <a:p>
            <a:pPr lvl="2"/>
            <a:r>
              <a:rPr lang="en-US" dirty="0"/>
              <a:t>Web</a:t>
            </a:r>
          </a:p>
          <a:p>
            <a:pPr lvl="2"/>
            <a:r>
              <a:rPr lang="en-US" dirty="0"/>
              <a:t>Mobile</a:t>
            </a:r>
          </a:p>
          <a:p>
            <a:pPr lvl="2"/>
            <a:r>
              <a:rPr lang="en-US" dirty="0"/>
              <a:t>Cloud</a:t>
            </a:r>
          </a:p>
          <a:p>
            <a:pPr lvl="1"/>
            <a:r>
              <a:rPr lang="en-US" dirty="0"/>
              <a:t>Analysis</a:t>
            </a:r>
          </a:p>
          <a:p>
            <a:pPr lvl="2"/>
            <a:r>
              <a:rPr lang="en-US" dirty="0"/>
              <a:t>SQL Optimization</a:t>
            </a:r>
          </a:p>
          <a:p>
            <a:pPr lvl="2"/>
            <a:r>
              <a:rPr lang="en-US" dirty="0"/>
              <a:t>Data Analysis</a:t>
            </a:r>
          </a:p>
          <a:p>
            <a:pPr lvl="2"/>
            <a:r>
              <a:rPr lang="en-US" dirty="0"/>
              <a:t>Mathematics</a:t>
            </a:r>
          </a:p>
          <a:p>
            <a:pPr lvl="1"/>
            <a:r>
              <a:rPr lang="en-US" dirty="0"/>
              <a:t>AI (9+)</a:t>
            </a:r>
          </a:p>
          <a:p>
            <a:pPr lvl="2"/>
            <a:r>
              <a:rPr lang="en-US" dirty="0"/>
              <a:t>Big Data</a:t>
            </a:r>
          </a:p>
          <a:p>
            <a:pPr lvl="2"/>
            <a:r>
              <a:rPr lang="en-US" dirty="0"/>
              <a:t>Machine Learning</a:t>
            </a:r>
          </a:p>
          <a:p>
            <a:pPr lvl="2"/>
            <a:r>
              <a:rPr lang="en-US" dirty="0"/>
              <a:t>Artificial Intelligence</a:t>
            </a:r>
          </a:p>
          <a:p>
            <a:endParaRPr lang="en-US" dirty="0"/>
          </a:p>
          <a:p>
            <a:endParaRPr lang="en-US" dirty="0"/>
          </a:p>
        </p:txBody>
      </p:sp>
      <p:pic>
        <p:nvPicPr>
          <p:cNvPr id="8" name="Picture 7">
            <a:extLst>
              <a:ext uri="{FF2B5EF4-FFF2-40B4-BE49-F238E27FC236}">
                <a16:creationId xmlns:a16="http://schemas.microsoft.com/office/drawing/2014/main" id="{1D1820F4-EC64-1682-6FDF-BF067924DC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2873" y="3429000"/>
            <a:ext cx="3877216" cy="1295581"/>
          </a:xfrm>
          <a:prstGeom prst="rect">
            <a:avLst/>
          </a:prstGeom>
        </p:spPr>
      </p:pic>
    </p:spTree>
    <p:extLst>
      <p:ext uri="{BB962C8B-B14F-4D97-AF65-F5344CB8AC3E}">
        <p14:creationId xmlns:p14="http://schemas.microsoft.com/office/powerpoint/2010/main" val="3369140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252DE-3301-4695-8875-CC366E849D66}"/>
              </a:ext>
            </a:extLst>
          </p:cNvPr>
          <p:cNvSpPr>
            <a:spLocks noGrp="1"/>
          </p:cNvSpPr>
          <p:nvPr>
            <p:ph type="title"/>
          </p:nvPr>
        </p:nvSpPr>
        <p:spPr/>
        <p:txBody>
          <a:bodyPr/>
          <a:lstStyle/>
          <a:p>
            <a:r>
              <a:rPr lang="en-US" dirty="0"/>
              <a:t>Disclaimer</a:t>
            </a:r>
          </a:p>
        </p:txBody>
      </p:sp>
      <p:sp>
        <p:nvSpPr>
          <p:cNvPr id="4" name="Content Placeholder 3">
            <a:extLst>
              <a:ext uri="{FF2B5EF4-FFF2-40B4-BE49-F238E27FC236}">
                <a16:creationId xmlns:a16="http://schemas.microsoft.com/office/drawing/2014/main" id="{C8FEAF21-9ED7-4CD3-A5E1-88ACA05CA71B}"/>
              </a:ext>
            </a:extLst>
          </p:cNvPr>
          <p:cNvSpPr>
            <a:spLocks noGrp="1"/>
          </p:cNvSpPr>
          <p:nvPr>
            <p:ph sz="half" idx="1"/>
          </p:nvPr>
        </p:nvSpPr>
        <p:spPr/>
        <p:txBody>
          <a:bodyPr/>
          <a:lstStyle/>
          <a:p>
            <a:pPr marL="0" indent="0">
              <a:buNone/>
            </a:pPr>
            <a:r>
              <a:rPr lang="en-US" dirty="0"/>
              <a:t>What this talk is?</a:t>
            </a:r>
          </a:p>
          <a:p>
            <a:r>
              <a:rPr lang="en-US" dirty="0"/>
              <a:t>Focusing on the tools and options you have a C# developer</a:t>
            </a:r>
          </a:p>
          <a:p>
            <a:r>
              <a:rPr lang="en-US" dirty="0"/>
              <a:t>Going to show you how you can do ML in C# or consume Python-built ML models model in C# applications.</a:t>
            </a:r>
          </a:p>
          <a:p>
            <a:r>
              <a:rPr lang="en-US" dirty="0"/>
              <a:t>Provide you with samples to get you started on your ML journey.</a:t>
            </a:r>
          </a:p>
        </p:txBody>
      </p:sp>
      <p:sp>
        <p:nvSpPr>
          <p:cNvPr id="5" name="Content Placeholder 4">
            <a:extLst>
              <a:ext uri="{FF2B5EF4-FFF2-40B4-BE49-F238E27FC236}">
                <a16:creationId xmlns:a16="http://schemas.microsoft.com/office/drawing/2014/main" id="{C1F1E22B-5700-49FB-B362-8CE2F8392AE4}"/>
              </a:ext>
            </a:extLst>
          </p:cNvPr>
          <p:cNvSpPr>
            <a:spLocks noGrp="1"/>
          </p:cNvSpPr>
          <p:nvPr>
            <p:ph sz="half" idx="2"/>
          </p:nvPr>
        </p:nvSpPr>
        <p:spPr/>
        <p:txBody>
          <a:bodyPr/>
          <a:lstStyle/>
          <a:p>
            <a:pPr marL="0" indent="0">
              <a:buNone/>
            </a:pPr>
            <a:r>
              <a:rPr lang="en-US" dirty="0"/>
              <a:t>What this talk is not?</a:t>
            </a:r>
          </a:p>
          <a:p>
            <a:r>
              <a:rPr lang="en-US" dirty="0"/>
              <a:t>Going to teach you everything about ML</a:t>
            </a:r>
          </a:p>
          <a:p>
            <a:r>
              <a:rPr lang="en-US" dirty="0"/>
              <a:t>A definitive source on what is right for your company</a:t>
            </a:r>
          </a:p>
          <a:p>
            <a:r>
              <a:rPr lang="en-US" dirty="0"/>
              <a:t>Assuming the type of AI/ML work that you are doing</a:t>
            </a:r>
          </a:p>
        </p:txBody>
      </p:sp>
    </p:spTree>
    <p:extLst>
      <p:ext uri="{BB962C8B-B14F-4D97-AF65-F5344CB8AC3E}">
        <p14:creationId xmlns:p14="http://schemas.microsoft.com/office/powerpoint/2010/main" val="3739536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8BFF5-54A9-DC8E-2EF6-AA511FF93136}"/>
              </a:ext>
            </a:extLst>
          </p:cNvPr>
          <p:cNvSpPr>
            <a:spLocks noGrp="1"/>
          </p:cNvSpPr>
          <p:nvPr>
            <p:ph type="title"/>
          </p:nvPr>
        </p:nvSpPr>
        <p:spPr/>
        <p:txBody>
          <a:bodyPr/>
          <a:lstStyle/>
          <a:p>
            <a:r>
              <a:rPr lang="en-US" dirty="0"/>
              <a:t>What is AI?</a:t>
            </a:r>
          </a:p>
        </p:txBody>
      </p:sp>
      <p:pic>
        <p:nvPicPr>
          <p:cNvPr id="6" name="Content Placeholder 7">
            <a:extLst>
              <a:ext uri="{FF2B5EF4-FFF2-40B4-BE49-F238E27FC236}">
                <a16:creationId xmlns:a16="http://schemas.microsoft.com/office/drawing/2014/main" id="{6098601D-97D7-7877-0631-358143F3DFEC}"/>
              </a:ext>
            </a:extLst>
          </p:cNvPr>
          <p:cNvPicPr>
            <a:picLocks noGrp="1" noChangeAspect="1"/>
          </p:cNvPicPr>
          <p:nvPr>
            <p:ph sz="half" idx="1"/>
          </p:nvPr>
        </p:nvPicPr>
        <p:blipFill>
          <a:blip r:embed="rId2"/>
          <a:stretch>
            <a:fillRect/>
          </a:stretch>
        </p:blipFill>
        <p:spPr>
          <a:xfrm>
            <a:off x="1159948" y="2060575"/>
            <a:ext cx="4282517" cy="4195763"/>
          </a:xfrm>
          <a:prstGeom prst="rect">
            <a:avLst/>
          </a:prstGeom>
        </p:spPr>
      </p:pic>
      <p:pic>
        <p:nvPicPr>
          <p:cNvPr id="7" name="Content Placeholder 2">
            <a:extLst>
              <a:ext uri="{FF2B5EF4-FFF2-40B4-BE49-F238E27FC236}">
                <a16:creationId xmlns:a16="http://schemas.microsoft.com/office/drawing/2014/main" id="{48BA4A53-DEAC-60DB-8DC2-32A66BFFC6A4}"/>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548533" y="2060575"/>
            <a:ext cx="4395788" cy="332980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81A7915-DD6F-30A9-33A0-1EF1B435A763}"/>
              </a:ext>
            </a:extLst>
          </p:cNvPr>
          <p:cNvSpPr txBox="1"/>
          <p:nvPr/>
        </p:nvSpPr>
        <p:spPr>
          <a:xfrm>
            <a:off x="6042829" y="5481952"/>
            <a:ext cx="5407196" cy="646331"/>
          </a:xfrm>
          <a:prstGeom prst="rect">
            <a:avLst/>
          </a:prstGeom>
          <a:noFill/>
        </p:spPr>
        <p:txBody>
          <a:bodyPr wrap="square" rtlCol="0">
            <a:spAutoFit/>
          </a:bodyPr>
          <a:lstStyle/>
          <a:p>
            <a:r>
              <a:rPr lang="en-US" dirty="0"/>
              <a:t>AI allows the computer to perform tasks that are easy for humans but very hard to code.</a:t>
            </a:r>
          </a:p>
        </p:txBody>
      </p:sp>
    </p:spTree>
    <p:extLst>
      <p:ext uri="{BB962C8B-B14F-4D97-AF65-F5344CB8AC3E}">
        <p14:creationId xmlns:p14="http://schemas.microsoft.com/office/powerpoint/2010/main" val="3105135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72ABC-3FE8-4491-86E9-C267AF33BC61}"/>
              </a:ext>
            </a:extLst>
          </p:cNvPr>
          <p:cNvSpPr>
            <a:spLocks noGrp="1"/>
          </p:cNvSpPr>
          <p:nvPr>
            <p:ph type="title"/>
          </p:nvPr>
        </p:nvSpPr>
        <p:spPr/>
        <p:txBody>
          <a:bodyPr/>
          <a:lstStyle/>
          <a:p>
            <a:r>
              <a:rPr lang="en-US" dirty="0"/>
              <a:t>What is ML? </a:t>
            </a:r>
            <a:br>
              <a:rPr lang="en-US" dirty="0"/>
            </a:br>
            <a:r>
              <a:rPr lang="en-US" sz="2400" dirty="0"/>
              <a:t>How is it different than AI?</a:t>
            </a:r>
          </a:p>
        </p:txBody>
      </p:sp>
      <p:sp>
        <p:nvSpPr>
          <p:cNvPr id="3" name="Content Placeholder 2">
            <a:extLst>
              <a:ext uri="{FF2B5EF4-FFF2-40B4-BE49-F238E27FC236}">
                <a16:creationId xmlns:a16="http://schemas.microsoft.com/office/drawing/2014/main" id="{8A9FB37D-26EA-44EF-8C55-4AE3EABBED22}"/>
              </a:ext>
            </a:extLst>
          </p:cNvPr>
          <p:cNvSpPr>
            <a:spLocks noGrp="1"/>
          </p:cNvSpPr>
          <p:nvPr>
            <p:ph idx="1"/>
          </p:nvPr>
        </p:nvSpPr>
        <p:spPr/>
        <p:txBody>
          <a:bodyPr>
            <a:normAutofit/>
          </a:bodyPr>
          <a:lstStyle/>
          <a:p>
            <a:r>
              <a:rPr lang="en-US" dirty="0"/>
              <a:t>Machine Learning is AI that focuses on building systems by learning patterns from data instead of explicitly relying on hard-corded rules</a:t>
            </a:r>
          </a:p>
          <a:p>
            <a:r>
              <a:rPr lang="en-US" dirty="0"/>
              <a:t>You provide a lot of samples and expected results and let it learn the rules.</a:t>
            </a:r>
          </a:p>
          <a:p>
            <a:r>
              <a:rPr lang="en-US" dirty="0"/>
              <a:t>Think of it as a rules engine where you don’t explicitly specify the rule, or sometimes even know the rules.</a:t>
            </a:r>
          </a:p>
          <a:p>
            <a:r>
              <a:rPr lang="en-US" dirty="0"/>
              <a:t>Some examples</a:t>
            </a:r>
          </a:p>
          <a:p>
            <a:pPr lvl="1"/>
            <a:r>
              <a:rPr lang="en-US" dirty="0"/>
              <a:t>Fraud of Not Fraud</a:t>
            </a:r>
          </a:p>
          <a:p>
            <a:pPr lvl="1"/>
            <a:r>
              <a:rPr lang="en-US" dirty="0"/>
              <a:t>Spam or Not Spam</a:t>
            </a:r>
          </a:p>
          <a:p>
            <a:r>
              <a:rPr lang="en-US" dirty="0"/>
              <a:t>Deep Learning is Machine Learning that uses Neural Networks</a:t>
            </a:r>
          </a:p>
        </p:txBody>
      </p:sp>
    </p:spTree>
    <p:extLst>
      <p:ext uri="{BB962C8B-B14F-4D97-AF65-F5344CB8AC3E}">
        <p14:creationId xmlns:p14="http://schemas.microsoft.com/office/powerpoint/2010/main" val="1328151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2A8EA-1007-495F-B19B-14B60C44EE77}"/>
              </a:ext>
            </a:extLst>
          </p:cNvPr>
          <p:cNvSpPr>
            <a:spLocks noGrp="1"/>
          </p:cNvSpPr>
          <p:nvPr>
            <p:ph type="title"/>
          </p:nvPr>
        </p:nvSpPr>
        <p:spPr/>
        <p:txBody>
          <a:bodyPr/>
          <a:lstStyle/>
          <a:p>
            <a:r>
              <a:rPr lang="en-US" dirty="0"/>
              <a:t>Why C#?</a:t>
            </a:r>
          </a:p>
        </p:txBody>
      </p:sp>
      <p:sp>
        <p:nvSpPr>
          <p:cNvPr id="3" name="Content Placeholder 2">
            <a:extLst>
              <a:ext uri="{FF2B5EF4-FFF2-40B4-BE49-F238E27FC236}">
                <a16:creationId xmlns:a16="http://schemas.microsoft.com/office/drawing/2014/main" id="{BE5D3364-0EE4-4ED2-804C-89B099B88690}"/>
              </a:ext>
            </a:extLst>
          </p:cNvPr>
          <p:cNvSpPr>
            <a:spLocks noGrp="1"/>
          </p:cNvSpPr>
          <p:nvPr>
            <p:ph idx="1"/>
          </p:nvPr>
        </p:nvSpPr>
        <p:spPr/>
        <p:txBody>
          <a:bodyPr/>
          <a:lstStyle/>
          <a:p>
            <a:r>
              <a:rPr lang="en-US" dirty="0"/>
              <a:t>You are already a C# developer.</a:t>
            </a:r>
          </a:p>
          <a:p>
            <a:r>
              <a:rPr lang="en-US" dirty="0"/>
              <a:t>Machine Learning already has a lot of complexity and things to learn such as: normalization, quantization, and tensorization, so we don’t need to add Python, libraries, and frameworks on top of that. So using tools your already familiar with makes it easier.</a:t>
            </a:r>
          </a:p>
          <a:p>
            <a:r>
              <a:rPr lang="en-US" dirty="0"/>
              <a:t>I believe in picking the right tool for the job, instead of building your companies entire tech stack around Python, just because it is good for building models.</a:t>
            </a:r>
          </a:p>
          <a:p>
            <a:r>
              <a:rPr lang="en-US" dirty="0"/>
              <a:t>It is often way faster to run models in C# than in Python. In my experience it has been about 20 times faster than Python, but changes depending on the project and its complexity.</a:t>
            </a:r>
          </a:p>
        </p:txBody>
      </p:sp>
    </p:spTree>
    <p:extLst>
      <p:ext uri="{BB962C8B-B14F-4D97-AF65-F5344CB8AC3E}">
        <p14:creationId xmlns:p14="http://schemas.microsoft.com/office/powerpoint/2010/main" val="3848307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B96A38-570A-7519-C734-713ABCA66579}"/>
              </a:ext>
            </a:extLst>
          </p:cNvPr>
          <p:cNvSpPr>
            <a:spLocks noGrp="1"/>
          </p:cNvSpPr>
          <p:nvPr>
            <p:ph idx="1"/>
          </p:nvPr>
        </p:nvSpPr>
        <p:spPr/>
        <p:txBody>
          <a:bodyPr>
            <a:normAutofit/>
          </a:bodyPr>
          <a:lstStyle/>
          <a:p>
            <a:pPr marL="0" indent="0" algn="ctr">
              <a:buNone/>
            </a:pPr>
            <a:r>
              <a:rPr lang="en-US" sz="9600" dirty="0"/>
              <a:t>A </a:t>
            </a:r>
          </a:p>
          <a:p>
            <a:pPr marL="0" indent="0" algn="ctr">
              <a:buNone/>
            </a:pPr>
            <a:r>
              <a:rPr lang="en-US" sz="9600" dirty="0"/>
              <a:t>PROBLEM</a:t>
            </a:r>
          </a:p>
        </p:txBody>
      </p:sp>
    </p:spTree>
    <p:extLst>
      <p:ext uri="{BB962C8B-B14F-4D97-AF65-F5344CB8AC3E}">
        <p14:creationId xmlns:p14="http://schemas.microsoft.com/office/powerpoint/2010/main" val="2814771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CA478-D27E-4B35-80E7-57447F183284}"/>
              </a:ext>
            </a:extLst>
          </p:cNvPr>
          <p:cNvSpPr>
            <a:spLocks noGrp="1"/>
          </p:cNvSpPr>
          <p:nvPr>
            <p:ph type="title"/>
          </p:nvPr>
        </p:nvSpPr>
        <p:spPr/>
        <p:txBody>
          <a:bodyPr/>
          <a:lstStyle/>
          <a:p>
            <a:r>
              <a:rPr lang="en-US" dirty="0"/>
              <a:t>Mutual Exclusion (XOR) Problem</a:t>
            </a:r>
          </a:p>
        </p:txBody>
      </p:sp>
      <p:sp>
        <p:nvSpPr>
          <p:cNvPr id="3" name="Content Placeholder 2">
            <a:extLst>
              <a:ext uri="{FF2B5EF4-FFF2-40B4-BE49-F238E27FC236}">
                <a16:creationId xmlns:a16="http://schemas.microsoft.com/office/drawing/2014/main" id="{0AD5919D-7969-44C5-AB8C-531B2A48EE29}"/>
              </a:ext>
            </a:extLst>
          </p:cNvPr>
          <p:cNvSpPr>
            <a:spLocks noGrp="1"/>
          </p:cNvSpPr>
          <p:nvPr>
            <p:ph idx="1"/>
          </p:nvPr>
        </p:nvSpPr>
        <p:spPr/>
        <p:txBody>
          <a:bodyPr/>
          <a:lstStyle/>
          <a:p>
            <a:r>
              <a:rPr lang="en-US" dirty="0"/>
              <a:t>Given two variables </a:t>
            </a:r>
            <a:r>
              <a:rPr lang="en-US" b="1" i="1" dirty="0"/>
              <a:t>p</a:t>
            </a:r>
            <a:r>
              <a:rPr lang="en-US" dirty="0"/>
              <a:t> and </a:t>
            </a:r>
            <a:r>
              <a:rPr lang="en-US" b="1" i="1" dirty="0"/>
              <a:t>q</a:t>
            </a:r>
            <a:r>
              <a:rPr lang="en-US" dirty="0"/>
              <a:t>, </a:t>
            </a:r>
            <a:r>
              <a:rPr lang="en-US" b="1" i="1" dirty="0"/>
              <a:t>p</a:t>
            </a:r>
            <a:r>
              <a:rPr lang="en-US" dirty="0"/>
              <a:t> and </a:t>
            </a:r>
            <a:r>
              <a:rPr lang="en-US" b="1" i="1" dirty="0"/>
              <a:t>q </a:t>
            </a:r>
            <a:r>
              <a:rPr lang="en-US" dirty="0"/>
              <a:t>are mutually exclusive if </a:t>
            </a:r>
            <a:r>
              <a:rPr lang="en-US" b="1" i="1" dirty="0"/>
              <a:t>p</a:t>
            </a:r>
            <a:r>
              <a:rPr lang="en-US" dirty="0"/>
              <a:t> is true and </a:t>
            </a:r>
            <a:r>
              <a:rPr lang="en-US" b="1" i="1" dirty="0"/>
              <a:t>q</a:t>
            </a:r>
            <a:r>
              <a:rPr lang="en-US" dirty="0"/>
              <a:t> is not, or if </a:t>
            </a:r>
            <a:r>
              <a:rPr lang="en-US" b="1" i="1" dirty="0"/>
              <a:t>q</a:t>
            </a:r>
            <a:r>
              <a:rPr lang="en-US" dirty="0"/>
              <a:t> is true and </a:t>
            </a:r>
            <a:r>
              <a:rPr lang="en-US" b="1" i="1" dirty="0"/>
              <a:t>p</a:t>
            </a:r>
            <a:r>
              <a:rPr lang="en-US" dirty="0"/>
              <a:t> is not.</a:t>
            </a:r>
          </a:p>
          <a:p>
            <a:pPr marL="0" indent="0">
              <a:buNone/>
            </a:pPr>
            <a:endParaRPr lang="en-US" dirty="0"/>
          </a:p>
          <a:p>
            <a:endParaRPr lang="en-US" dirty="0"/>
          </a:p>
        </p:txBody>
      </p:sp>
      <p:pic>
        <p:nvPicPr>
          <p:cNvPr id="9" name="Picture 8">
            <a:extLst>
              <a:ext uri="{FF2B5EF4-FFF2-40B4-BE49-F238E27FC236}">
                <a16:creationId xmlns:a16="http://schemas.microsoft.com/office/drawing/2014/main" id="{33E9A956-A8F5-4EE8-901B-76A3B1095279}"/>
              </a:ext>
            </a:extLst>
          </p:cNvPr>
          <p:cNvPicPr>
            <a:picLocks noChangeAspect="1"/>
          </p:cNvPicPr>
          <p:nvPr/>
        </p:nvPicPr>
        <p:blipFill>
          <a:blip r:embed="rId2"/>
          <a:stretch>
            <a:fillRect/>
          </a:stretch>
        </p:blipFill>
        <p:spPr>
          <a:xfrm>
            <a:off x="304801" y="4150658"/>
            <a:ext cx="4604550" cy="2042672"/>
          </a:xfrm>
          <a:prstGeom prst="rect">
            <a:avLst/>
          </a:prstGeom>
        </p:spPr>
      </p:pic>
      <p:pic>
        <p:nvPicPr>
          <p:cNvPr id="27" name="Picture 26" descr="A picture containing object, clock, drawing&#10;&#10;Description automatically generated">
            <a:extLst>
              <a:ext uri="{FF2B5EF4-FFF2-40B4-BE49-F238E27FC236}">
                <a16:creationId xmlns:a16="http://schemas.microsoft.com/office/drawing/2014/main" id="{28D41DB3-AF63-4518-B98C-9357F59B6D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77004" y="4150658"/>
            <a:ext cx="1419225" cy="1066800"/>
          </a:xfrm>
          <a:prstGeom prst="rect">
            <a:avLst/>
          </a:prstGeom>
        </p:spPr>
      </p:pic>
      <p:pic>
        <p:nvPicPr>
          <p:cNvPr id="29" name="Picture 28" descr="A close up of a clock&#10;&#10;Description automatically generated">
            <a:extLst>
              <a:ext uri="{FF2B5EF4-FFF2-40B4-BE49-F238E27FC236}">
                <a16:creationId xmlns:a16="http://schemas.microsoft.com/office/drawing/2014/main" id="{D65C7630-2BD7-4545-A81D-42DF8A1F62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12065" y="4150658"/>
            <a:ext cx="1343025" cy="1114425"/>
          </a:xfrm>
          <a:prstGeom prst="rect">
            <a:avLst/>
          </a:prstGeom>
        </p:spPr>
      </p:pic>
      <p:pic>
        <p:nvPicPr>
          <p:cNvPr id="31" name="Picture 30" descr="Table&#10;&#10;Description automatically generated">
            <a:extLst>
              <a:ext uri="{FF2B5EF4-FFF2-40B4-BE49-F238E27FC236}">
                <a16:creationId xmlns:a16="http://schemas.microsoft.com/office/drawing/2014/main" id="{5A7FFD18-4D72-4F8C-9F1C-A1D0483E737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30448" y="4135608"/>
            <a:ext cx="1657350" cy="1409700"/>
          </a:xfrm>
          <a:prstGeom prst="rect">
            <a:avLst/>
          </a:prstGeom>
        </p:spPr>
      </p:pic>
      <p:sp>
        <p:nvSpPr>
          <p:cNvPr id="32" name="TextBox 31">
            <a:extLst>
              <a:ext uri="{FF2B5EF4-FFF2-40B4-BE49-F238E27FC236}">
                <a16:creationId xmlns:a16="http://schemas.microsoft.com/office/drawing/2014/main" id="{1B8F7586-F69B-49F9-8513-87EDA7FD4DB2}"/>
              </a:ext>
            </a:extLst>
          </p:cNvPr>
          <p:cNvSpPr txBox="1"/>
          <p:nvPr/>
        </p:nvSpPr>
        <p:spPr>
          <a:xfrm>
            <a:off x="304802" y="3681491"/>
            <a:ext cx="4604549" cy="369332"/>
          </a:xfrm>
          <a:prstGeom prst="rect">
            <a:avLst/>
          </a:prstGeom>
          <a:noFill/>
        </p:spPr>
        <p:txBody>
          <a:bodyPr wrap="square" rtlCol="0">
            <a:spAutoFit/>
          </a:bodyPr>
          <a:lstStyle/>
          <a:p>
            <a:pPr algn="ctr"/>
            <a:r>
              <a:rPr lang="en-US" dirty="0"/>
              <a:t>C#</a:t>
            </a:r>
          </a:p>
        </p:txBody>
      </p:sp>
      <p:sp>
        <p:nvSpPr>
          <p:cNvPr id="34" name="TextBox 33">
            <a:extLst>
              <a:ext uri="{FF2B5EF4-FFF2-40B4-BE49-F238E27FC236}">
                <a16:creationId xmlns:a16="http://schemas.microsoft.com/office/drawing/2014/main" id="{CBF9C20E-1478-4FC4-98A5-EF17F72302EE}"/>
              </a:ext>
            </a:extLst>
          </p:cNvPr>
          <p:cNvSpPr txBox="1"/>
          <p:nvPr/>
        </p:nvSpPr>
        <p:spPr>
          <a:xfrm>
            <a:off x="5777004" y="3681491"/>
            <a:ext cx="2978086" cy="369332"/>
          </a:xfrm>
          <a:prstGeom prst="rect">
            <a:avLst/>
          </a:prstGeom>
          <a:noFill/>
        </p:spPr>
        <p:txBody>
          <a:bodyPr wrap="square" rtlCol="0">
            <a:spAutoFit/>
          </a:bodyPr>
          <a:lstStyle/>
          <a:p>
            <a:pPr algn="ctr"/>
            <a:r>
              <a:rPr lang="en-US" dirty="0"/>
              <a:t>Math</a:t>
            </a:r>
          </a:p>
        </p:txBody>
      </p:sp>
      <p:sp>
        <p:nvSpPr>
          <p:cNvPr id="36" name="TextBox 35">
            <a:extLst>
              <a:ext uri="{FF2B5EF4-FFF2-40B4-BE49-F238E27FC236}">
                <a16:creationId xmlns:a16="http://schemas.microsoft.com/office/drawing/2014/main" id="{B1E2AD94-23B5-41E0-87FC-6A77565BD8D4}"/>
              </a:ext>
            </a:extLst>
          </p:cNvPr>
          <p:cNvSpPr txBox="1"/>
          <p:nvPr/>
        </p:nvSpPr>
        <p:spPr>
          <a:xfrm>
            <a:off x="9830448" y="3681491"/>
            <a:ext cx="1657350" cy="369332"/>
          </a:xfrm>
          <a:prstGeom prst="rect">
            <a:avLst/>
          </a:prstGeom>
          <a:noFill/>
        </p:spPr>
        <p:txBody>
          <a:bodyPr wrap="square" rtlCol="0">
            <a:spAutoFit/>
          </a:bodyPr>
          <a:lstStyle/>
          <a:p>
            <a:pPr algn="ctr"/>
            <a:r>
              <a:rPr lang="en-US" dirty="0"/>
              <a:t>ML</a:t>
            </a:r>
          </a:p>
        </p:txBody>
      </p:sp>
    </p:spTree>
    <p:extLst>
      <p:ext uri="{BB962C8B-B14F-4D97-AF65-F5344CB8AC3E}">
        <p14:creationId xmlns:p14="http://schemas.microsoft.com/office/powerpoint/2010/main" val="86283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4" grpId="0"/>
      <p:bldP spid="3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FDF2EE-2986-44DD-BD9A-E3B939B4C58F}"/>
              </a:ext>
            </a:extLst>
          </p:cNvPr>
          <p:cNvPicPr>
            <a:picLocks noChangeAspect="1"/>
          </p:cNvPicPr>
          <p:nvPr/>
        </p:nvPicPr>
        <p:blipFill>
          <a:blip r:embed="rId2"/>
          <a:stretch>
            <a:fillRect/>
          </a:stretch>
        </p:blipFill>
        <p:spPr>
          <a:xfrm>
            <a:off x="3529929" y="1689234"/>
            <a:ext cx="7769462" cy="4634564"/>
          </a:xfrm>
          <a:prstGeom prst="rect">
            <a:avLst/>
          </a:prstGeom>
        </p:spPr>
      </p:pic>
      <p:pic>
        <p:nvPicPr>
          <p:cNvPr id="10" name="Picture 9">
            <a:extLst>
              <a:ext uri="{FF2B5EF4-FFF2-40B4-BE49-F238E27FC236}">
                <a16:creationId xmlns:a16="http://schemas.microsoft.com/office/drawing/2014/main" id="{DC877D01-6191-4989-BBB1-69120FF53B08}"/>
              </a:ext>
            </a:extLst>
          </p:cNvPr>
          <p:cNvPicPr>
            <a:picLocks noChangeAspect="1"/>
          </p:cNvPicPr>
          <p:nvPr/>
        </p:nvPicPr>
        <p:blipFill>
          <a:blip r:embed="rId3"/>
          <a:stretch>
            <a:fillRect/>
          </a:stretch>
        </p:blipFill>
        <p:spPr>
          <a:xfrm>
            <a:off x="3529929" y="1689234"/>
            <a:ext cx="7769462" cy="4634564"/>
          </a:xfrm>
          <a:prstGeom prst="rect">
            <a:avLst/>
          </a:prstGeom>
        </p:spPr>
      </p:pic>
      <p:sp>
        <p:nvSpPr>
          <p:cNvPr id="2" name="Title 1">
            <a:extLst>
              <a:ext uri="{FF2B5EF4-FFF2-40B4-BE49-F238E27FC236}">
                <a16:creationId xmlns:a16="http://schemas.microsoft.com/office/drawing/2014/main" id="{CCC6B0DE-DB19-4BDC-B189-59463B93137F}"/>
              </a:ext>
            </a:extLst>
          </p:cNvPr>
          <p:cNvSpPr>
            <a:spLocks noGrp="1"/>
          </p:cNvSpPr>
          <p:nvPr>
            <p:ph type="title"/>
          </p:nvPr>
        </p:nvSpPr>
        <p:spPr/>
        <p:txBody>
          <a:bodyPr/>
          <a:lstStyle/>
          <a:p>
            <a:r>
              <a:rPr lang="en-US" dirty="0"/>
              <a:t>Neural Network Diagram</a:t>
            </a:r>
          </a:p>
        </p:txBody>
      </p:sp>
      <p:pic>
        <p:nvPicPr>
          <p:cNvPr id="8" name="Picture 7" descr="Table&#10;&#10;Description automatically generated">
            <a:extLst>
              <a:ext uri="{FF2B5EF4-FFF2-40B4-BE49-F238E27FC236}">
                <a16:creationId xmlns:a16="http://schemas.microsoft.com/office/drawing/2014/main" id="{B4A58927-C4BB-402E-B848-DDDE45CE07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1833" y="3301666"/>
            <a:ext cx="1657350" cy="1409700"/>
          </a:xfrm>
          <a:prstGeom prst="rect">
            <a:avLst/>
          </a:prstGeom>
        </p:spPr>
      </p:pic>
      <p:pic>
        <p:nvPicPr>
          <p:cNvPr id="12" name="Picture 11">
            <a:extLst>
              <a:ext uri="{FF2B5EF4-FFF2-40B4-BE49-F238E27FC236}">
                <a16:creationId xmlns:a16="http://schemas.microsoft.com/office/drawing/2014/main" id="{B7C2A15C-9B27-4325-9057-C15F94CECF54}"/>
              </a:ext>
            </a:extLst>
          </p:cNvPr>
          <p:cNvPicPr>
            <a:picLocks noChangeAspect="1"/>
          </p:cNvPicPr>
          <p:nvPr/>
        </p:nvPicPr>
        <p:blipFill>
          <a:blip r:embed="rId5"/>
          <a:stretch>
            <a:fillRect/>
          </a:stretch>
        </p:blipFill>
        <p:spPr>
          <a:xfrm>
            <a:off x="3529929" y="1689232"/>
            <a:ext cx="7769462" cy="4634566"/>
          </a:xfrm>
          <a:prstGeom prst="rect">
            <a:avLst/>
          </a:prstGeom>
        </p:spPr>
      </p:pic>
      <p:pic>
        <p:nvPicPr>
          <p:cNvPr id="14" name="Picture 13">
            <a:extLst>
              <a:ext uri="{FF2B5EF4-FFF2-40B4-BE49-F238E27FC236}">
                <a16:creationId xmlns:a16="http://schemas.microsoft.com/office/drawing/2014/main" id="{02C703C2-480E-4F33-B0D2-6F9D7EB2C589}"/>
              </a:ext>
            </a:extLst>
          </p:cNvPr>
          <p:cNvPicPr>
            <a:picLocks noChangeAspect="1"/>
          </p:cNvPicPr>
          <p:nvPr/>
        </p:nvPicPr>
        <p:blipFill>
          <a:blip r:embed="rId6"/>
          <a:stretch>
            <a:fillRect/>
          </a:stretch>
        </p:blipFill>
        <p:spPr>
          <a:xfrm>
            <a:off x="3529929" y="1689232"/>
            <a:ext cx="7769462" cy="4634564"/>
          </a:xfrm>
          <a:prstGeom prst="rect">
            <a:avLst/>
          </a:prstGeom>
        </p:spPr>
      </p:pic>
    </p:spTree>
    <p:extLst>
      <p:ext uri="{BB962C8B-B14F-4D97-AF65-F5344CB8AC3E}">
        <p14:creationId xmlns:p14="http://schemas.microsoft.com/office/powerpoint/2010/main" val="3944940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309EA-9ED4-499E-8D10-861E08270205}"/>
              </a:ext>
            </a:extLst>
          </p:cNvPr>
          <p:cNvSpPr>
            <a:spLocks noGrp="1"/>
          </p:cNvSpPr>
          <p:nvPr>
            <p:ph type="title"/>
          </p:nvPr>
        </p:nvSpPr>
        <p:spPr/>
        <p:txBody>
          <a:bodyPr/>
          <a:lstStyle/>
          <a:p>
            <a:r>
              <a:rPr lang="en-US" dirty="0"/>
              <a:t>Perceptron</a:t>
            </a:r>
          </a:p>
        </p:txBody>
      </p:sp>
      <p:pic>
        <p:nvPicPr>
          <p:cNvPr id="13" name="Content Placeholder 12">
            <a:extLst>
              <a:ext uri="{FF2B5EF4-FFF2-40B4-BE49-F238E27FC236}">
                <a16:creationId xmlns:a16="http://schemas.microsoft.com/office/drawing/2014/main" id="{708F4B2D-4457-457D-9BE4-864E94D16DB8}"/>
              </a:ext>
            </a:extLst>
          </p:cNvPr>
          <p:cNvPicPr>
            <a:picLocks noGrp="1" noChangeAspect="1"/>
          </p:cNvPicPr>
          <p:nvPr>
            <p:ph sz="half" idx="1"/>
          </p:nvPr>
        </p:nvPicPr>
        <p:blipFill>
          <a:blip r:embed="rId3"/>
          <a:stretch>
            <a:fillRect/>
          </a:stretch>
        </p:blipFill>
        <p:spPr>
          <a:xfrm>
            <a:off x="646111" y="2567703"/>
            <a:ext cx="5437740" cy="3177022"/>
          </a:xfrm>
        </p:spPr>
      </p:pic>
      <p:pic>
        <p:nvPicPr>
          <p:cNvPr id="23" name="Content Placeholder 22" descr="Text&#10;&#10;Description automatically generated">
            <a:extLst>
              <a:ext uri="{FF2B5EF4-FFF2-40B4-BE49-F238E27FC236}">
                <a16:creationId xmlns:a16="http://schemas.microsoft.com/office/drawing/2014/main" id="{B936858D-4C10-4BD5-A1D4-02CB419D7770}"/>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986326" y="3192715"/>
            <a:ext cx="4395788" cy="879157"/>
          </a:xfrm>
        </p:spPr>
      </p:pic>
      <p:pic>
        <p:nvPicPr>
          <p:cNvPr id="27" name="Picture 26" descr="Diagram&#10;&#10;Description automatically generated">
            <a:extLst>
              <a:ext uri="{FF2B5EF4-FFF2-40B4-BE49-F238E27FC236}">
                <a16:creationId xmlns:a16="http://schemas.microsoft.com/office/drawing/2014/main" id="{B2D76343-A1E2-4A1A-9138-19D16BA664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55470" y="4458839"/>
            <a:ext cx="2857500" cy="952500"/>
          </a:xfrm>
          <a:prstGeom prst="rect">
            <a:avLst/>
          </a:prstGeom>
        </p:spPr>
      </p:pic>
    </p:spTree>
    <p:extLst>
      <p:ext uri="{BB962C8B-B14F-4D97-AF65-F5344CB8AC3E}">
        <p14:creationId xmlns:p14="http://schemas.microsoft.com/office/powerpoint/2010/main" val="1448381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E14C2-A30F-9644-057C-A6964A3AFE3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95BF0B-040B-0F98-30B0-DE7646AF4958}"/>
              </a:ext>
            </a:extLst>
          </p:cNvPr>
          <p:cNvSpPr>
            <a:spLocks noGrp="1"/>
          </p:cNvSpPr>
          <p:nvPr>
            <p:ph idx="1"/>
          </p:nvPr>
        </p:nvSpPr>
        <p:spPr/>
        <p:txBody>
          <a:bodyPr>
            <a:normAutofit/>
          </a:bodyPr>
          <a:lstStyle/>
          <a:p>
            <a:pPr marL="0" indent="0" algn="ctr">
              <a:buNone/>
            </a:pPr>
            <a:r>
              <a:rPr lang="en-US" sz="9600" dirty="0"/>
              <a:t>BUILDING MODELS</a:t>
            </a:r>
          </a:p>
        </p:txBody>
      </p:sp>
    </p:spTree>
    <p:extLst>
      <p:ext uri="{BB962C8B-B14F-4D97-AF65-F5344CB8AC3E}">
        <p14:creationId xmlns:p14="http://schemas.microsoft.com/office/powerpoint/2010/main" val="2388074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65821-FFA1-44CE-A43A-A74418AFC88A}"/>
              </a:ext>
            </a:extLst>
          </p:cNvPr>
          <p:cNvSpPr>
            <a:spLocks noGrp="1"/>
          </p:cNvSpPr>
          <p:nvPr>
            <p:ph type="title"/>
          </p:nvPr>
        </p:nvSpPr>
        <p:spPr/>
        <p:txBody>
          <a:bodyPr/>
          <a:lstStyle/>
          <a:p>
            <a:r>
              <a:rPr lang="en-US" dirty="0"/>
              <a:t>Option1. ML.NET</a:t>
            </a:r>
          </a:p>
        </p:txBody>
      </p:sp>
      <p:sp>
        <p:nvSpPr>
          <p:cNvPr id="3" name="Content Placeholder 2">
            <a:extLst>
              <a:ext uri="{FF2B5EF4-FFF2-40B4-BE49-F238E27FC236}">
                <a16:creationId xmlns:a16="http://schemas.microsoft.com/office/drawing/2014/main" id="{1CFF7013-6DBB-4B5A-8C84-58CAC48C4AC1}"/>
              </a:ext>
            </a:extLst>
          </p:cNvPr>
          <p:cNvSpPr>
            <a:spLocks noGrp="1"/>
          </p:cNvSpPr>
          <p:nvPr>
            <p:ph idx="1"/>
          </p:nvPr>
        </p:nvSpPr>
        <p:spPr/>
        <p:txBody>
          <a:bodyPr/>
          <a:lstStyle/>
          <a:p>
            <a:r>
              <a:rPr lang="en-US" dirty="0"/>
              <a:t>Cross-Platform Machine Learning Framework</a:t>
            </a:r>
          </a:p>
          <a:p>
            <a:r>
              <a:rPr lang="en-US" dirty="0"/>
              <a:t>Built for .NET developers</a:t>
            </a:r>
          </a:p>
          <a:p>
            <a:r>
              <a:rPr lang="en-US" dirty="0"/>
              <a:t>Has ONNX &amp; ONNX Runtime Support (more on this later)</a:t>
            </a:r>
          </a:p>
          <a:p>
            <a:r>
              <a:rPr lang="en-US" dirty="0"/>
              <a:t>Microsoft uses it for Power BI, Microsoft Defender, Outlook and Bing</a:t>
            </a:r>
          </a:p>
          <a:p>
            <a:r>
              <a:rPr lang="en-US" dirty="0"/>
              <a:t>Supports AutoML</a:t>
            </a:r>
          </a:p>
          <a:p>
            <a:r>
              <a:rPr lang="en-US" dirty="0"/>
              <a:t>Wide ML Problem Support: classification, regression, object detection, sentiment analysis, time series data</a:t>
            </a:r>
          </a:p>
          <a:p>
            <a:r>
              <a:rPr lang="en-US" dirty="0"/>
              <a:t>NuGet: Microsoft.ML</a:t>
            </a:r>
          </a:p>
        </p:txBody>
      </p:sp>
    </p:spTree>
    <p:extLst>
      <p:ext uri="{BB962C8B-B14F-4D97-AF65-F5344CB8AC3E}">
        <p14:creationId xmlns:p14="http://schemas.microsoft.com/office/powerpoint/2010/main" val="4144857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0112B-E0BC-7976-158F-A17C445B575C}"/>
              </a:ext>
            </a:extLst>
          </p:cNvPr>
          <p:cNvSpPr>
            <a:spLocks noGrp="1"/>
          </p:cNvSpPr>
          <p:nvPr>
            <p:ph type="title"/>
          </p:nvPr>
        </p:nvSpPr>
        <p:spPr/>
        <p:txBody>
          <a:bodyPr/>
          <a:lstStyle/>
          <a:p>
            <a:r>
              <a:rPr lang="en-US" dirty="0"/>
              <a:t>Code. Setup Data for Training</a:t>
            </a:r>
          </a:p>
        </p:txBody>
      </p:sp>
      <p:pic>
        <p:nvPicPr>
          <p:cNvPr id="5" name="Content Placeholder 4">
            <a:extLst>
              <a:ext uri="{FF2B5EF4-FFF2-40B4-BE49-F238E27FC236}">
                <a16:creationId xmlns:a16="http://schemas.microsoft.com/office/drawing/2014/main" id="{8A1BCF2E-50F7-13B7-F455-6D79FC3B251E}"/>
              </a:ext>
            </a:extLst>
          </p:cNvPr>
          <p:cNvPicPr>
            <a:picLocks noGrp="1" noChangeAspect="1"/>
          </p:cNvPicPr>
          <p:nvPr>
            <p:ph sz="half" idx="1"/>
          </p:nvPr>
        </p:nvPicPr>
        <p:blipFill>
          <a:blip r:embed="rId2"/>
          <a:stretch>
            <a:fillRect/>
          </a:stretch>
        </p:blipFill>
        <p:spPr>
          <a:xfrm>
            <a:off x="812549" y="2351384"/>
            <a:ext cx="3905795" cy="1200318"/>
          </a:xfrm>
          <a:prstGeom prst="rect">
            <a:avLst/>
          </a:prstGeom>
        </p:spPr>
      </p:pic>
      <p:sp>
        <p:nvSpPr>
          <p:cNvPr id="10" name="Content Placeholder 9">
            <a:extLst>
              <a:ext uri="{FF2B5EF4-FFF2-40B4-BE49-F238E27FC236}">
                <a16:creationId xmlns:a16="http://schemas.microsoft.com/office/drawing/2014/main" id="{52CB77EF-347D-394D-DB49-FAB0C3CA4749}"/>
              </a:ext>
            </a:extLst>
          </p:cNvPr>
          <p:cNvSpPr>
            <a:spLocks noGrp="1"/>
          </p:cNvSpPr>
          <p:nvPr>
            <p:ph sz="half" idx="2"/>
          </p:nvPr>
        </p:nvSpPr>
        <p:spPr/>
        <p:txBody>
          <a:bodyPr/>
          <a:lstStyle/>
          <a:p>
            <a:r>
              <a:rPr lang="en-US" dirty="0"/>
              <a:t>Data can come from anywhere</a:t>
            </a:r>
          </a:p>
          <a:p>
            <a:pPr lvl="1"/>
            <a:r>
              <a:rPr lang="en-US" dirty="0"/>
              <a:t>Databases</a:t>
            </a:r>
          </a:p>
          <a:p>
            <a:pPr lvl="1"/>
            <a:r>
              <a:rPr lang="en-US" dirty="0"/>
              <a:t>Files</a:t>
            </a:r>
          </a:p>
          <a:p>
            <a:pPr lvl="1"/>
            <a:r>
              <a:rPr lang="en-US" dirty="0"/>
              <a:t>Services</a:t>
            </a:r>
          </a:p>
          <a:p>
            <a:r>
              <a:rPr lang="en-US" dirty="0"/>
              <a:t>Getting the data is a separate concern of training the model</a:t>
            </a:r>
          </a:p>
        </p:txBody>
      </p:sp>
      <p:pic>
        <p:nvPicPr>
          <p:cNvPr id="7" name="Picture 6">
            <a:extLst>
              <a:ext uri="{FF2B5EF4-FFF2-40B4-BE49-F238E27FC236}">
                <a16:creationId xmlns:a16="http://schemas.microsoft.com/office/drawing/2014/main" id="{53B09A4C-8773-1C19-3620-D3B352DB989B}"/>
              </a:ext>
            </a:extLst>
          </p:cNvPr>
          <p:cNvPicPr>
            <a:picLocks noChangeAspect="1"/>
          </p:cNvPicPr>
          <p:nvPr/>
        </p:nvPicPr>
        <p:blipFill>
          <a:blip r:embed="rId3"/>
          <a:stretch>
            <a:fillRect/>
          </a:stretch>
        </p:blipFill>
        <p:spPr>
          <a:xfrm>
            <a:off x="560100" y="4049838"/>
            <a:ext cx="4410691" cy="1390844"/>
          </a:xfrm>
          <a:prstGeom prst="rect">
            <a:avLst/>
          </a:prstGeom>
        </p:spPr>
      </p:pic>
    </p:spTree>
    <p:extLst>
      <p:ext uri="{BB962C8B-B14F-4D97-AF65-F5344CB8AC3E}">
        <p14:creationId xmlns:p14="http://schemas.microsoft.com/office/powerpoint/2010/main" val="85473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771D9-589F-1248-39E7-D5A55D01CCBA}"/>
              </a:ext>
            </a:extLst>
          </p:cNvPr>
          <p:cNvSpPr>
            <a:spLocks noGrp="1"/>
          </p:cNvSpPr>
          <p:nvPr>
            <p:ph type="title"/>
          </p:nvPr>
        </p:nvSpPr>
        <p:spPr/>
        <p:txBody>
          <a:bodyPr/>
          <a:lstStyle/>
          <a:p>
            <a:r>
              <a:rPr lang="en-US" sz="4000" dirty="0"/>
              <a:t>Code. Setup, Train, and Save Model</a:t>
            </a:r>
          </a:p>
        </p:txBody>
      </p:sp>
      <p:pic>
        <p:nvPicPr>
          <p:cNvPr id="9" name="Content Placeholder 8">
            <a:extLst>
              <a:ext uri="{FF2B5EF4-FFF2-40B4-BE49-F238E27FC236}">
                <a16:creationId xmlns:a16="http://schemas.microsoft.com/office/drawing/2014/main" id="{EDC02291-ECAF-CFC9-5BB8-B823808DC62B}"/>
              </a:ext>
            </a:extLst>
          </p:cNvPr>
          <p:cNvPicPr>
            <a:picLocks noGrp="1" noChangeAspect="1"/>
          </p:cNvPicPr>
          <p:nvPr>
            <p:ph idx="1"/>
          </p:nvPr>
        </p:nvPicPr>
        <p:blipFill>
          <a:blip r:embed="rId2"/>
          <a:stretch>
            <a:fillRect/>
          </a:stretch>
        </p:blipFill>
        <p:spPr>
          <a:xfrm>
            <a:off x="1622425" y="2564247"/>
            <a:ext cx="8947150" cy="2958961"/>
          </a:xfrm>
          <a:prstGeom prst="rect">
            <a:avLst/>
          </a:prstGeom>
        </p:spPr>
      </p:pic>
    </p:spTree>
    <p:extLst>
      <p:ext uri="{BB962C8B-B14F-4D97-AF65-F5344CB8AC3E}">
        <p14:creationId xmlns:p14="http://schemas.microsoft.com/office/powerpoint/2010/main" val="2603952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57DB9-9137-A7B0-0EE3-526A3E8F2CB3}"/>
              </a:ext>
            </a:extLst>
          </p:cNvPr>
          <p:cNvSpPr>
            <a:spLocks noGrp="1"/>
          </p:cNvSpPr>
          <p:nvPr>
            <p:ph type="title"/>
          </p:nvPr>
        </p:nvSpPr>
        <p:spPr/>
        <p:txBody>
          <a:bodyPr/>
          <a:lstStyle/>
          <a:p>
            <a:r>
              <a:rPr lang="en-US" sz="3200" dirty="0"/>
              <a:t>Code. Load Model and Perform Inference</a:t>
            </a:r>
          </a:p>
        </p:txBody>
      </p:sp>
      <p:pic>
        <p:nvPicPr>
          <p:cNvPr id="5" name="Content Placeholder 4">
            <a:extLst>
              <a:ext uri="{FF2B5EF4-FFF2-40B4-BE49-F238E27FC236}">
                <a16:creationId xmlns:a16="http://schemas.microsoft.com/office/drawing/2014/main" id="{AC226BE0-892C-8342-8610-13334B6A57EB}"/>
              </a:ext>
            </a:extLst>
          </p:cNvPr>
          <p:cNvPicPr>
            <a:picLocks noGrp="1" noChangeAspect="1"/>
          </p:cNvPicPr>
          <p:nvPr>
            <p:ph idx="1"/>
          </p:nvPr>
        </p:nvPicPr>
        <p:blipFill>
          <a:blip r:embed="rId2"/>
          <a:stretch>
            <a:fillRect/>
          </a:stretch>
        </p:blipFill>
        <p:spPr>
          <a:xfrm>
            <a:off x="649966" y="2225898"/>
            <a:ext cx="8947150" cy="3969381"/>
          </a:xfrm>
          <a:prstGeom prst="rect">
            <a:avLst/>
          </a:prstGeom>
        </p:spPr>
      </p:pic>
      <p:pic>
        <p:nvPicPr>
          <p:cNvPr id="7" name="Picture 6">
            <a:extLst>
              <a:ext uri="{FF2B5EF4-FFF2-40B4-BE49-F238E27FC236}">
                <a16:creationId xmlns:a16="http://schemas.microsoft.com/office/drawing/2014/main" id="{F0AD5608-C437-E918-C982-1DC1EA36FAE1}"/>
              </a:ext>
            </a:extLst>
          </p:cNvPr>
          <p:cNvPicPr>
            <a:picLocks noChangeAspect="1"/>
          </p:cNvPicPr>
          <p:nvPr/>
        </p:nvPicPr>
        <p:blipFill>
          <a:blip r:embed="rId3"/>
          <a:stretch>
            <a:fillRect/>
          </a:stretch>
        </p:blipFill>
        <p:spPr>
          <a:xfrm>
            <a:off x="3614464" y="1218853"/>
            <a:ext cx="3924848" cy="790685"/>
          </a:xfrm>
          <a:prstGeom prst="rect">
            <a:avLst/>
          </a:prstGeom>
        </p:spPr>
      </p:pic>
      <p:pic>
        <p:nvPicPr>
          <p:cNvPr id="13" name="Picture 12">
            <a:extLst>
              <a:ext uri="{FF2B5EF4-FFF2-40B4-BE49-F238E27FC236}">
                <a16:creationId xmlns:a16="http://schemas.microsoft.com/office/drawing/2014/main" id="{EB693FDA-92C7-A4A5-DF99-88BC7036D0EE}"/>
              </a:ext>
            </a:extLst>
          </p:cNvPr>
          <p:cNvPicPr>
            <a:picLocks noChangeAspect="1"/>
          </p:cNvPicPr>
          <p:nvPr/>
        </p:nvPicPr>
        <p:blipFill>
          <a:blip r:embed="rId4"/>
          <a:stretch>
            <a:fillRect/>
          </a:stretch>
        </p:blipFill>
        <p:spPr>
          <a:xfrm>
            <a:off x="9987108" y="3200797"/>
            <a:ext cx="1895740" cy="2019582"/>
          </a:xfrm>
          <a:prstGeom prst="rect">
            <a:avLst/>
          </a:prstGeom>
        </p:spPr>
      </p:pic>
    </p:spTree>
    <p:extLst>
      <p:ext uri="{BB962C8B-B14F-4D97-AF65-F5344CB8AC3E}">
        <p14:creationId xmlns:p14="http://schemas.microsoft.com/office/powerpoint/2010/main" val="3791693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387B25-3FA9-4752-9EDD-F7A5BF9C280A}"/>
              </a:ext>
            </a:extLst>
          </p:cNvPr>
          <p:cNvSpPr>
            <a:spLocks noGrp="1"/>
          </p:cNvSpPr>
          <p:nvPr>
            <p:ph type="title"/>
          </p:nvPr>
        </p:nvSpPr>
        <p:spPr/>
        <p:txBody>
          <a:bodyPr/>
          <a:lstStyle/>
          <a:p>
            <a:r>
              <a:rPr lang="en-US" dirty="0"/>
              <a:t>ML.NET</a:t>
            </a:r>
          </a:p>
        </p:txBody>
      </p:sp>
      <p:sp>
        <p:nvSpPr>
          <p:cNvPr id="5" name="Content Placeholder 4">
            <a:extLst>
              <a:ext uri="{FF2B5EF4-FFF2-40B4-BE49-F238E27FC236}">
                <a16:creationId xmlns:a16="http://schemas.microsoft.com/office/drawing/2014/main" id="{1ECA9DE6-2538-4FB2-8D0F-9B3CFC215A4D}"/>
              </a:ext>
            </a:extLst>
          </p:cNvPr>
          <p:cNvSpPr>
            <a:spLocks noGrp="1"/>
          </p:cNvSpPr>
          <p:nvPr>
            <p:ph sz="half" idx="1"/>
          </p:nvPr>
        </p:nvSpPr>
        <p:spPr/>
        <p:txBody>
          <a:bodyPr>
            <a:normAutofit fontScale="92500" lnSpcReduction="20000"/>
          </a:bodyPr>
          <a:lstStyle/>
          <a:p>
            <a:pPr marL="0" indent="0">
              <a:buNone/>
            </a:pPr>
            <a:r>
              <a:rPr lang="en-US" dirty="0"/>
              <a:t>Pros</a:t>
            </a:r>
          </a:p>
          <a:p>
            <a:pPr lvl="1"/>
            <a:r>
              <a:rPr lang="en-US" dirty="0"/>
              <a:t>Wide ML example support and tutorials</a:t>
            </a:r>
          </a:p>
          <a:p>
            <a:pPr lvl="1"/>
            <a:r>
              <a:rPr lang="en-US" dirty="0"/>
              <a:t>Great for developers without ML experience, since the transforms handle a lot of ML complexity for you</a:t>
            </a:r>
          </a:p>
          <a:p>
            <a:pPr lvl="1"/>
            <a:r>
              <a:rPr lang="en-US" dirty="0"/>
              <a:t>Entirely C#, no third-party libraries*</a:t>
            </a:r>
          </a:p>
          <a:p>
            <a:pPr lvl="1"/>
            <a:r>
              <a:rPr lang="en-US" dirty="0"/>
              <a:t>Can export models to ONNX (more on this later)</a:t>
            </a:r>
          </a:p>
        </p:txBody>
      </p:sp>
      <p:sp>
        <p:nvSpPr>
          <p:cNvPr id="6" name="Content Placeholder 5">
            <a:extLst>
              <a:ext uri="{FF2B5EF4-FFF2-40B4-BE49-F238E27FC236}">
                <a16:creationId xmlns:a16="http://schemas.microsoft.com/office/drawing/2014/main" id="{E281ED28-A20B-4FA3-9C24-1ED8ABE1DDE7}"/>
              </a:ext>
            </a:extLst>
          </p:cNvPr>
          <p:cNvSpPr>
            <a:spLocks noGrp="1"/>
          </p:cNvSpPr>
          <p:nvPr>
            <p:ph sz="half" idx="2"/>
          </p:nvPr>
        </p:nvSpPr>
        <p:spPr>
          <a:xfrm>
            <a:off x="5654493" y="2056092"/>
            <a:ext cx="5905659" cy="4200245"/>
          </a:xfrm>
        </p:spPr>
        <p:txBody>
          <a:bodyPr>
            <a:normAutofit fontScale="92500" lnSpcReduction="20000"/>
          </a:bodyPr>
          <a:lstStyle/>
          <a:p>
            <a:pPr marL="0" indent="0">
              <a:buNone/>
            </a:pPr>
            <a:r>
              <a:rPr lang="en-US" dirty="0"/>
              <a:t>Cons</a:t>
            </a:r>
          </a:p>
          <a:p>
            <a:pPr lvl="1"/>
            <a:r>
              <a:rPr lang="en-US" dirty="0"/>
              <a:t>Has a limited number of build-in transforms, which either limits use cases or adds additional development and requiring deeper understanding of ML.NET internals</a:t>
            </a:r>
          </a:p>
          <a:p>
            <a:pPr lvl="1"/>
            <a:r>
              <a:rPr lang="en-US" dirty="0"/>
              <a:t>Opinionated, and if modeled off Entity Framework, therefore looks very different from other ML libraries</a:t>
            </a:r>
          </a:p>
          <a:p>
            <a:pPr lvl="1"/>
            <a:r>
              <a:rPr lang="en-US" dirty="0"/>
              <a:t>Can be overly complicated to use, and down- right confusing if you have an ML background and are used to building models in other platforms</a:t>
            </a:r>
          </a:p>
          <a:p>
            <a:pPr lvl="1"/>
            <a:r>
              <a:rPr lang="en-US" dirty="0"/>
              <a:t>Uses CPU-first driven training and inference</a:t>
            </a:r>
          </a:p>
          <a:p>
            <a:pPr lvl="1"/>
            <a:r>
              <a:rPr lang="en-US" dirty="0"/>
              <a:t>Doesn’t directly support CUDA, instead relies on </a:t>
            </a:r>
            <a:r>
              <a:rPr lang="en-US" dirty="0" err="1"/>
              <a:t>DirectML</a:t>
            </a:r>
            <a:r>
              <a:rPr lang="en-US" dirty="0"/>
              <a:t> (in Windows) then communicates with CUDA via Python-based backends like TensorFlow, which you have to setup and maintain. This can cause issues and slow downs, and I 100% don’t recommend for production deployment.</a:t>
            </a:r>
          </a:p>
          <a:p>
            <a:pPr lvl="1"/>
            <a:endParaRPr lang="en-US" dirty="0"/>
          </a:p>
        </p:txBody>
      </p:sp>
    </p:spTree>
    <p:extLst>
      <p:ext uri="{BB962C8B-B14F-4D97-AF65-F5344CB8AC3E}">
        <p14:creationId xmlns:p14="http://schemas.microsoft.com/office/powerpoint/2010/main" val="649472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0F1F86-3890-4B03-8857-2DB6588AA3C3}"/>
              </a:ext>
            </a:extLst>
          </p:cNvPr>
          <p:cNvSpPr>
            <a:spLocks noGrp="1"/>
          </p:cNvSpPr>
          <p:nvPr>
            <p:ph type="title"/>
          </p:nvPr>
        </p:nvSpPr>
        <p:spPr/>
        <p:txBody>
          <a:bodyPr/>
          <a:lstStyle/>
          <a:p>
            <a:r>
              <a:rPr lang="en-US" dirty="0"/>
              <a:t>Option2. </a:t>
            </a:r>
            <a:r>
              <a:rPr lang="en-US" dirty="0" err="1"/>
              <a:t>SciSharp</a:t>
            </a:r>
            <a:r>
              <a:rPr lang="en-US" dirty="0"/>
              <a:t> Stack</a:t>
            </a:r>
          </a:p>
        </p:txBody>
      </p:sp>
      <p:sp>
        <p:nvSpPr>
          <p:cNvPr id="5" name="Content Placeholder 4">
            <a:extLst>
              <a:ext uri="{FF2B5EF4-FFF2-40B4-BE49-F238E27FC236}">
                <a16:creationId xmlns:a16="http://schemas.microsoft.com/office/drawing/2014/main" id="{AEDF2D0F-F8D7-4588-9DE8-284B6F3C4F3C}"/>
              </a:ext>
            </a:extLst>
          </p:cNvPr>
          <p:cNvSpPr>
            <a:spLocks noGrp="1"/>
          </p:cNvSpPr>
          <p:nvPr>
            <p:ph sz="half" idx="1"/>
          </p:nvPr>
        </p:nvSpPr>
        <p:spPr/>
        <p:txBody>
          <a:bodyPr/>
          <a:lstStyle/>
          <a:p>
            <a:r>
              <a:rPr lang="en-US" dirty="0"/>
              <a:t>TensorFlow</a:t>
            </a:r>
          </a:p>
          <a:p>
            <a:r>
              <a:rPr lang="en-US" dirty="0"/>
              <a:t>Keras</a:t>
            </a:r>
          </a:p>
          <a:p>
            <a:r>
              <a:rPr lang="en-US" dirty="0" err="1"/>
              <a:t>Numpy</a:t>
            </a:r>
            <a:endParaRPr lang="en-US" dirty="0"/>
          </a:p>
          <a:p>
            <a:r>
              <a:rPr lang="en-US" dirty="0"/>
              <a:t>OpenCV</a:t>
            </a:r>
          </a:p>
          <a:p>
            <a:r>
              <a:rPr lang="en-US" dirty="0"/>
              <a:t>Pandas</a:t>
            </a:r>
          </a:p>
          <a:p>
            <a:r>
              <a:rPr lang="en-US" dirty="0"/>
              <a:t>PyTorch</a:t>
            </a:r>
          </a:p>
          <a:p>
            <a:r>
              <a:rPr lang="en-US" dirty="0"/>
              <a:t>Pillow (PIL)</a:t>
            </a:r>
          </a:p>
          <a:p>
            <a:r>
              <a:rPr lang="en-US" dirty="0"/>
              <a:t>Matplotlib</a:t>
            </a:r>
          </a:p>
          <a:p>
            <a:r>
              <a:rPr lang="en-US" dirty="0"/>
              <a:t>scikit-learn</a:t>
            </a:r>
          </a:p>
        </p:txBody>
      </p:sp>
      <p:sp>
        <p:nvSpPr>
          <p:cNvPr id="6" name="Content Placeholder 5">
            <a:extLst>
              <a:ext uri="{FF2B5EF4-FFF2-40B4-BE49-F238E27FC236}">
                <a16:creationId xmlns:a16="http://schemas.microsoft.com/office/drawing/2014/main" id="{F2C87336-F950-4F83-82B9-2A84680AF9C3}"/>
              </a:ext>
            </a:extLst>
          </p:cNvPr>
          <p:cNvSpPr>
            <a:spLocks noGrp="1"/>
          </p:cNvSpPr>
          <p:nvPr>
            <p:ph sz="half" idx="2"/>
          </p:nvPr>
        </p:nvSpPr>
        <p:spPr/>
        <p:txBody>
          <a:bodyPr/>
          <a:lstStyle/>
          <a:p>
            <a:r>
              <a:rPr lang="en-US" dirty="0" err="1"/>
              <a:t>TensorFlow.Net</a:t>
            </a:r>
            <a:endParaRPr lang="en-US" dirty="0"/>
          </a:p>
          <a:p>
            <a:r>
              <a:rPr lang="en-US" dirty="0" err="1"/>
              <a:t>Keras.Net</a:t>
            </a:r>
            <a:endParaRPr lang="en-US" dirty="0"/>
          </a:p>
          <a:p>
            <a:r>
              <a:rPr lang="en-US" dirty="0" err="1"/>
              <a:t>Numpy.Net</a:t>
            </a:r>
            <a:r>
              <a:rPr lang="en-US" dirty="0"/>
              <a:t>, </a:t>
            </a:r>
            <a:r>
              <a:rPr lang="en-US" sz="1400" dirty="0" err="1"/>
              <a:t>NumSharp</a:t>
            </a:r>
            <a:r>
              <a:rPr lang="en-US" sz="1400" dirty="0"/>
              <a:t>, </a:t>
            </a:r>
            <a:r>
              <a:rPr lang="en-US" sz="1400" dirty="0" err="1"/>
              <a:t>NumSharp.Lite</a:t>
            </a:r>
            <a:endParaRPr lang="en-US" sz="1400" dirty="0"/>
          </a:p>
          <a:p>
            <a:r>
              <a:rPr lang="en-US" dirty="0" err="1"/>
              <a:t>SharpCV</a:t>
            </a:r>
            <a:endParaRPr lang="en-US" dirty="0"/>
          </a:p>
          <a:p>
            <a:r>
              <a:rPr lang="en-US" dirty="0"/>
              <a:t>Pandas.NET</a:t>
            </a:r>
          </a:p>
          <a:p>
            <a:r>
              <a:rPr lang="en-US" dirty="0"/>
              <a:t>Torch.NET</a:t>
            </a:r>
          </a:p>
          <a:p>
            <a:r>
              <a:rPr lang="en-US" dirty="0" err="1"/>
              <a:t>PillowSharp</a:t>
            </a:r>
            <a:endParaRPr lang="en-US" dirty="0"/>
          </a:p>
          <a:p>
            <a:r>
              <a:rPr lang="en-US" dirty="0"/>
              <a:t>Matplotlib.NET</a:t>
            </a:r>
          </a:p>
          <a:p>
            <a:r>
              <a:rPr lang="en-US" dirty="0"/>
              <a:t>scikit-learn.net</a:t>
            </a:r>
          </a:p>
          <a:p>
            <a:endParaRPr lang="en-US" dirty="0"/>
          </a:p>
          <a:p>
            <a:endParaRPr lang="en-US" dirty="0"/>
          </a:p>
        </p:txBody>
      </p:sp>
    </p:spTree>
    <p:extLst>
      <p:ext uri="{BB962C8B-B14F-4D97-AF65-F5344CB8AC3E}">
        <p14:creationId xmlns:p14="http://schemas.microsoft.com/office/powerpoint/2010/main" val="3068055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5EF44-6EB7-4D67-A14A-60530AC2D816}"/>
              </a:ext>
            </a:extLst>
          </p:cNvPr>
          <p:cNvSpPr>
            <a:spLocks noGrp="1"/>
          </p:cNvSpPr>
          <p:nvPr>
            <p:ph type="title"/>
          </p:nvPr>
        </p:nvSpPr>
        <p:spPr/>
        <p:txBody>
          <a:bodyPr/>
          <a:lstStyle/>
          <a:p>
            <a:r>
              <a:rPr lang="en-US" dirty="0" err="1"/>
              <a:t>SciSharp</a:t>
            </a:r>
            <a:r>
              <a:rPr lang="en-US" dirty="0"/>
              <a:t> Stack</a:t>
            </a:r>
          </a:p>
        </p:txBody>
      </p:sp>
      <p:sp>
        <p:nvSpPr>
          <p:cNvPr id="3" name="Content Placeholder 2">
            <a:extLst>
              <a:ext uri="{FF2B5EF4-FFF2-40B4-BE49-F238E27FC236}">
                <a16:creationId xmlns:a16="http://schemas.microsoft.com/office/drawing/2014/main" id="{F12E3C64-8030-4C59-ACE6-894B8D9E69C3}"/>
              </a:ext>
            </a:extLst>
          </p:cNvPr>
          <p:cNvSpPr>
            <a:spLocks noGrp="1"/>
          </p:cNvSpPr>
          <p:nvPr>
            <p:ph idx="1"/>
          </p:nvPr>
        </p:nvSpPr>
        <p:spPr/>
        <p:txBody>
          <a:bodyPr/>
          <a:lstStyle/>
          <a:p>
            <a:r>
              <a:rPr lang="en-US" dirty="0"/>
              <a:t>Brings the best-in-class tooling from Python into C#, allowing you to use the tools and language you already use</a:t>
            </a:r>
          </a:p>
          <a:p>
            <a:r>
              <a:rPr lang="en-US" dirty="0"/>
              <a:t>All libraries support .NET, .NET Core, and .NET Framework. </a:t>
            </a:r>
          </a:p>
          <a:p>
            <a:r>
              <a:rPr lang="en-US" dirty="0"/>
              <a:t>They provide ready-made Docker Images and </a:t>
            </a:r>
            <a:r>
              <a:rPr lang="en-US" dirty="0" err="1"/>
              <a:t>Jupyter</a:t>
            </a:r>
            <a:r>
              <a:rPr lang="en-US" dirty="0"/>
              <a:t> notebooks to allow you to play around with it without having to do a lot of setup. Very helpful when deploying to the cloud.</a:t>
            </a:r>
          </a:p>
          <a:p>
            <a:r>
              <a:rPr lang="en-US" dirty="0"/>
              <a:t>You can easily port existing Python logic or examples into C# without much conversion</a:t>
            </a:r>
          </a:p>
        </p:txBody>
      </p:sp>
    </p:spTree>
    <p:extLst>
      <p:ext uri="{BB962C8B-B14F-4D97-AF65-F5344CB8AC3E}">
        <p14:creationId xmlns:p14="http://schemas.microsoft.com/office/powerpoint/2010/main" val="118808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DC96F-6340-4596-9999-B081528FF0F2}"/>
              </a:ext>
            </a:extLst>
          </p:cNvPr>
          <p:cNvSpPr>
            <a:spLocks noGrp="1"/>
          </p:cNvSpPr>
          <p:nvPr>
            <p:ph type="title"/>
          </p:nvPr>
        </p:nvSpPr>
        <p:spPr/>
        <p:txBody>
          <a:bodyPr/>
          <a:lstStyle/>
          <a:p>
            <a:r>
              <a:rPr lang="en-US" dirty="0"/>
              <a:t>Caveats for </a:t>
            </a:r>
            <a:r>
              <a:rPr lang="en-US" dirty="0" err="1"/>
              <a:t>SciSharp</a:t>
            </a:r>
            <a:endParaRPr lang="en-US" dirty="0"/>
          </a:p>
        </p:txBody>
      </p:sp>
      <p:sp>
        <p:nvSpPr>
          <p:cNvPr id="3" name="Content Placeholder 2">
            <a:extLst>
              <a:ext uri="{FF2B5EF4-FFF2-40B4-BE49-F238E27FC236}">
                <a16:creationId xmlns:a16="http://schemas.microsoft.com/office/drawing/2014/main" id="{C2A3535D-BDA0-46D1-A985-1CF1DC61999C}"/>
              </a:ext>
            </a:extLst>
          </p:cNvPr>
          <p:cNvSpPr>
            <a:spLocks noGrp="1"/>
          </p:cNvSpPr>
          <p:nvPr>
            <p:ph sz="half" idx="1"/>
          </p:nvPr>
        </p:nvSpPr>
        <p:spPr/>
        <p:txBody>
          <a:bodyPr/>
          <a:lstStyle/>
          <a:p>
            <a:r>
              <a:rPr lang="en-US" dirty="0"/>
              <a:t>Apache 2.0 License (see details on right)</a:t>
            </a:r>
          </a:p>
          <a:p>
            <a:r>
              <a:rPr lang="en-US" dirty="0"/>
              <a:t>Some of the libraries require Python and the associated package to be installed.</a:t>
            </a:r>
          </a:p>
        </p:txBody>
      </p:sp>
      <p:pic>
        <p:nvPicPr>
          <p:cNvPr id="6" name="Content Placeholder 5">
            <a:extLst>
              <a:ext uri="{FF2B5EF4-FFF2-40B4-BE49-F238E27FC236}">
                <a16:creationId xmlns:a16="http://schemas.microsoft.com/office/drawing/2014/main" id="{1D884FBC-F394-4E79-B4A2-8D662196D453}"/>
              </a:ext>
            </a:extLst>
          </p:cNvPr>
          <p:cNvPicPr>
            <a:picLocks noGrp="1" noChangeAspect="1"/>
          </p:cNvPicPr>
          <p:nvPr>
            <p:ph sz="half" idx="2"/>
          </p:nvPr>
        </p:nvPicPr>
        <p:blipFill>
          <a:blip r:embed="rId3"/>
          <a:stretch>
            <a:fillRect/>
          </a:stretch>
        </p:blipFill>
        <p:spPr>
          <a:xfrm>
            <a:off x="6492073" y="2300511"/>
            <a:ext cx="4395788" cy="2256977"/>
          </a:xfrm>
        </p:spPr>
      </p:pic>
      <p:sp>
        <p:nvSpPr>
          <p:cNvPr id="4" name="TextBox 3">
            <a:extLst>
              <a:ext uri="{FF2B5EF4-FFF2-40B4-BE49-F238E27FC236}">
                <a16:creationId xmlns:a16="http://schemas.microsoft.com/office/drawing/2014/main" id="{4CBB7B26-8A9D-4569-950D-664D355FA21B}"/>
              </a:ext>
            </a:extLst>
          </p:cNvPr>
          <p:cNvSpPr txBox="1"/>
          <p:nvPr/>
        </p:nvSpPr>
        <p:spPr>
          <a:xfrm>
            <a:off x="1" y="6463665"/>
            <a:ext cx="12192000" cy="369332"/>
          </a:xfrm>
          <a:prstGeom prst="rect">
            <a:avLst/>
          </a:prstGeom>
          <a:noFill/>
        </p:spPr>
        <p:txBody>
          <a:bodyPr wrap="square" rtlCol="0">
            <a:spAutoFit/>
          </a:bodyPr>
          <a:lstStyle/>
          <a:p>
            <a:pPr algn="ctr"/>
            <a:r>
              <a:rPr lang="en-US" dirty="0"/>
              <a:t>https://tldrlegal.com/license/apache-license-2.0-(apache-2.0)</a:t>
            </a:r>
          </a:p>
        </p:txBody>
      </p:sp>
    </p:spTree>
    <p:extLst>
      <p:ext uri="{BB962C8B-B14F-4D97-AF65-F5344CB8AC3E}">
        <p14:creationId xmlns:p14="http://schemas.microsoft.com/office/powerpoint/2010/main" val="3710349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E69A5E5-29F1-4CC6-9E1E-BCB86AC804FD}"/>
              </a:ext>
            </a:extLst>
          </p:cNvPr>
          <p:cNvSpPr>
            <a:spLocks noGrp="1"/>
          </p:cNvSpPr>
          <p:nvPr>
            <p:ph type="title"/>
          </p:nvPr>
        </p:nvSpPr>
        <p:spPr/>
        <p:txBody>
          <a:bodyPr/>
          <a:lstStyle/>
          <a:p>
            <a:endParaRPr lang="en-US"/>
          </a:p>
        </p:txBody>
      </p:sp>
      <p:pic>
        <p:nvPicPr>
          <p:cNvPr id="8" name="Content Placeholder 7">
            <a:extLst>
              <a:ext uri="{FF2B5EF4-FFF2-40B4-BE49-F238E27FC236}">
                <a16:creationId xmlns:a16="http://schemas.microsoft.com/office/drawing/2014/main" id="{74F21861-C030-424D-8B73-55806A47DC49}"/>
              </a:ext>
            </a:extLst>
          </p:cNvPr>
          <p:cNvPicPr>
            <a:picLocks noGrp="1" noChangeAspect="1"/>
          </p:cNvPicPr>
          <p:nvPr>
            <p:ph idx="1"/>
          </p:nvPr>
        </p:nvPicPr>
        <p:blipFill>
          <a:blip r:embed="rId2"/>
          <a:stretch>
            <a:fillRect/>
          </a:stretch>
        </p:blipFill>
        <p:spPr>
          <a:xfrm>
            <a:off x="483550" y="3009946"/>
            <a:ext cx="11224900" cy="2352166"/>
          </a:xfrm>
        </p:spPr>
      </p:pic>
    </p:spTree>
    <p:extLst>
      <p:ext uri="{BB962C8B-B14F-4D97-AF65-F5344CB8AC3E}">
        <p14:creationId xmlns:p14="http://schemas.microsoft.com/office/powerpoint/2010/main" val="24313910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5A801-133E-448F-ABC1-3D5214C048E6}"/>
              </a:ext>
            </a:extLst>
          </p:cNvPr>
          <p:cNvSpPr>
            <a:spLocks noGrp="1"/>
          </p:cNvSpPr>
          <p:nvPr>
            <p:ph type="title"/>
          </p:nvPr>
        </p:nvSpPr>
        <p:spPr/>
        <p:txBody>
          <a:bodyPr/>
          <a:lstStyle/>
          <a:p>
            <a:r>
              <a:rPr lang="en-US" dirty="0"/>
              <a:t>Keras.NET </a:t>
            </a:r>
            <a:r>
              <a:rPr lang="en-US" sz="3000" dirty="0"/>
              <a:t>(also uses TensorFlow and </a:t>
            </a:r>
            <a:r>
              <a:rPr lang="en-US" sz="3000" dirty="0" err="1"/>
              <a:t>Numpy</a:t>
            </a:r>
            <a:r>
              <a:rPr lang="en-US" sz="3000" dirty="0"/>
              <a:t>)</a:t>
            </a:r>
          </a:p>
        </p:txBody>
      </p:sp>
      <p:sp>
        <p:nvSpPr>
          <p:cNvPr id="4" name="Content Placeholder 3">
            <a:extLst>
              <a:ext uri="{FF2B5EF4-FFF2-40B4-BE49-F238E27FC236}">
                <a16:creationId xmlns:a16="http://schemas.microsoft.com/office/drawing/2014/main" id="{6FA9535F-70E1-43DF-A456-FA62F2ED712D}"/>
              </a:ext>
            </a:extLst>
          </p:cNvPr>
          <p:cNvSpPr>
            <a:spLocks noGrp="1"/>
          </p:cNvSpPr>
          <p:nvPr>
            <p:ph sz="half" idx="1"/>
          </p:nvPr>
        </p:nvSpPr>
        <p:spPr/>
        <p:txBody>
          <a:bodyPr>
            <a:normAutofit/>
          </a:bodyPr>
          <a:lstStyle/>
          <a:p>
            <a:r>
              <a:rPr lang="en-US" dirty="0"/>
              <a:t>Since Keras.NET is a “Binding” we must have Python, </a:t>
            </a:r>
            <a:r>
              <a:rPr lang="en-US" dirty="0" err="1"/>
              <a:t>Keras</a:t>
            </a:r>
            <a:r>
              <a:rPr lang="en-US" dirty="0"/>
              <a:t>, and a </a:t>
            </a:r>
            <a:r>
              <a:rPr lang="en-US" dirty="0" err="1"/>
              <a:t>Keras</a:t>
            </a:r>
            <a:r>
              <a:rPr lang="en-US" dirty="0"/>
              <a:t> backend (such as TensorFlow), and any dependences installed to use it</a:t>
            </a:r>
          </a:p>
          <a:p>
            <a:r>
              <a:rPr lang="en-US" dirty="0" err="1"/>
              <a:t>Keras</a:t>
            </a:r>
            <a:r>
              <a:rPr lang="en-US" dirty="0"/>
              <a:t> is easier to explore in C#, thanks to </a:t>
            </a:r>
            <a:r>
              <a:rPr lang="en-US" dirty="0" err="1"/>
              <a:t>Intellisense</a:t>
            </a:r>
            <a:endParaRPr lang="en-US" dirty="0"/>
          </a:p>
          <a:p>
            <a:endParaRPr lang="en-US" dirty="0"/>
          </a:p>
        </p:txBody>
      </p:sp>
      <p:pic>
        <p:nvPicPr>
          <p:cNvPr id="10" name="Content Placeholder 9">
            <a:extLst>
              <a:ext uri="{FF2B5EF4-FFF2-40B4-BE49-F238E27FC236}">
                <a16:creationId xmlns:a16="http://schemas.microsoft.com/office/drawing/2014/main" id="{C0FCC691-BF6B-49D8-81BC-929FDF0FC0A7}"/>
              </a:ext>
            </a:extLst>
          </p:cNvPr>
          <p:cNvPicPr>
            <a:picLocks noGrp="1" noChangeAspect="1"/>
          </p:cNvPicPr>
          <p:nvPr>
            <p:ph sz="half" idx="2"/>
          </p:nvPr>
        </p:nvPicPr>
        <p:blipFill>
          <a:blip r:embed="rId3"/>
          <a:stretch>
            <a:fillRect/>
          </a:stretch>
        </p:blipFill>
        <p:spPr>
          <a:xfrm>
            <a:off x="5637112" y="2131135"/>
            <a:ext cx="6067208" cy="2595730"/>
          </a:xfrm>
        </p:spPr>
      </p:pic>
    </p:spTree>
    <p:extLst>
      <p:ext uri="{BB962C8B-B14F-4D97-AF65-F5344CB8AC3E}">
        <p14:creationId xmlns:p14="http://schemas.microsoft.com/office/powerpoint/2010/main" val="484648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91091-C86A-4AA0-BBEA-0C51C858CFAC}"/>
              </a:ext>
            </a:extLst>
          </p:cNvPr>
          <p:cNvSpPr>
            <a:spLocks noGrp="1"/>
          </p:cNvSpPr>
          <p:nvPr>
            <p:ph type="title"/>
          </p:nvPr>
        </p:nvSpPr>
        <p:spPr/>
        <p:txBody>
          <a:bodyPr/>
          <a:lstStyle/>
          <a:p>
            <a:r>
              <a:rPr lang="en-US" dirty="0"/>
              <a:t>Install Python and Packages</a:t>
            </a:r>
          </a:p>
        </p:txBody>
      </p:sp>
      <p:sp>
        <p:nvSpPr>
          <p:cNvPr id="3" name="Content Placeholder 2">
            <a:extLst>
              <a:ext uri="{FF2B5EF4-FFF2-40B4-BE49-F238E27FC236}">
                <a16:creationId xmlns:a16="http://schemas.microsoft.com/office/drawing/2014/main" id="{9D565B63-3360-4F88-898F-067F8FD2658D}"/>
              </a:ext>
            </a:extLst>
          </p:cNvPr>
          <p:cNvSpPr>
            <a:spLocks noGrp="1"/>
          </p:cNvSpPr>
          <p:nvPr>
            <p:ph idx="1"/>
          </p:nvPr>
        </p:nvSpPr>
        <p:spPr/>
        <p:txBody>
          <a:bodyPr>
            <a:normAutofit fontScale="92500" lnSpcReduction="20000"/>
          </a:bodyPr>
          <a:lstStyle/>
          <a:p>
            <a:r>
              <a:rPr lang="en-US" dirty="0"/>
              <a:t>Download and Install Python</a:t>
            </a:r>
          </a:p>
          <a:p>
            <a:r>
              <a:rPr lang="en-US" dirty="0"/>
              <a:t>Download and Install Anaconda</a:t>
            </a:r>
          </a:p>
          <a:p>
            <a:r>
              <a:rPr lang="en-US" dirty="0"/>
              <a:t>Open the Anaconda Prompt </a:t>
            </a:r>
            <a:r>
              <a:rPr lang="en-US" sz="1400" dirty="0"/>
              <a:t>(from start menu)</a:t>
            </a:r>
          </a:p>
          <a:p>
            <a:r>
              <a:rPr lang="en-US" dirty="0"/>
              <a:t>Install the following packages using the pip command</a:t>
            </a:r>
          </a:p>
          <a:p>
            <a:pPr lvl="1"/>
            <a:r>
              <a:rPr lang="en-US" dirty="0"/>
              <a:t>pip install TensorFlow</a:t>
            </a:r>
          </a:p>
          <a:p>
            <a:pPr lvl="1"/>
            <a:r>
              <a:rPr lang="en-US" dirty="0"/>
              <a:t>pip install </a:t>
            </a:r>
            <a:r>
              <a:rPr lang="en-US" dirty="0" err="1"/>
              <a:t>keras</a:t>
            </a:r>
            <a:endParaRPr lang="en-US" dirty="0"/>
          </a:p>
          <a:p>
            <a:pPr lvl="1"/>
            <a:r>
              <a:rPr lang="en-US" dirty="0"/>
              <a:t>pip install keras2onnx</a:t>
            </a:r>
          </a:p>
          <a:p>
            <a:pPr lvl="1"/>
            <a:r>
              <a:rPr lang="en-US" dirty="0"/>
              <a:t>pip install </a:t>
            </a:r>
            <a:r>
              <a:rPr lang="en-US" dirty="0" err="1"/>
              <a:t>onnx</a:t>
            </a:r>
            <a:endParaRPr lang="en-US" dirty="0"/>
          </a:p>
          <a:p>
            <a:pPr lvl="1"/>
            <a:r>
              <a:rPr lang="en-US" dirty="0"/>
              <a:t>pip install </a:t>
            </a:r>
            <a:r>
              <a:rPr lang="en-US" dirty="0" err="1"/>
              <a:t>onnxmltools</a:t>
            </a:r>
            <a:endParaRPr lang="en-US" dirty="0"/>
          </a:p>
          <a:p>
            <a:r>
              <a:rPr lang="en-US" dirty="0"/>
              <a:t>Note this will install all required packages like </a:t>
            </a:r>
            <a:r>
              <a:rPr lang="en-US" dirty="0" err="1"/>
              <a:t>Numpy</a:t>
            </a:r>
            <a:endParaRPr lang="en-US" dirty="0"/>
          </a:p>
          <a:p>
            <a:pPr marL="0" indent="0">
              <a:buNone/>
            </a:pPr>
            <a:endParaRPr lang="en-US" sz="1200" dirty="0"/>
          </a:p>
          <a:p>
            <a:pPr marL="0" indent="0" algn="ctr">
              <a:buNone/>
            </a:pPr>
            <a:r>
              <a:rPr lang="en-US" sz="1200" dirty="0"/>
              <a:t>Links are on the links slide</a:t>
            </a:r>
          </a:p>
        </p:txBody>
      </p:sp>
    </p:spTree>
    <p:extLst>
      <p:ext uri="{BB962C8B-B14F-4D97-AF65-F5344CB8AC3E}">
        <p14:creationId xmlns:p14="http://schemas.microsoft.com/office/powerpoint/2010/main" val="3783626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5A801-133E-448F-ABC1-3D5214C048E6}"/>
              </a:ext>
            </a:extLst>
          </p:cNvPr>
          <p:cNvSpPr>
            <a:spLocks noGrp="1"/>
          </p:cNvSpPr>
          <p:nvPr>
            <p:ph type="title"/>
          </p:nvPr>
        </p:nvSpPr>
        <p:spPr/>
        <p:txBody>
          <a:bodyPr/>
          <a:lstStyle/>
          <a:p>
            <a:r>
              <a:rPr lang="en-US" dirty="0"/>
              <a:t>Using Keras.NET</a:t>
            </a:r>
          </a:p>
        </p:txBody>
      </p:sp>
      <p:sp>
        <p:nvSpPr>
          <p:cNvPr id="4" name="Content Placeholder 3">
            <a:extLst>
              <a:ext uri="{FF2B5EF4-FFF2-40B4-BE49-F238E27FC236}">
                <a16:creationId xmlns:a16="http://schemas.microsoft.com/office/drawing/2014/main" id="{6FA9535F-70E1-43DF-A456-FA62F2ED712D}"/>
              </a:ext>
            </a:extLst>
          </p:cNvPr>
          <p:cNvSpPr>
            <a:spLocks noGrp="1"/>
          </p:cNvSpPr>
          <p:nvPr>
            <p:ph idx="1"/>
          </p:nvPr>
        </p:nvSpPr>
        <p:spPr/>
        <p:txBody>
          <a:bodyPr>
            <a:normAutofit/>
          </a:bodyPr>
          <a:lstStyle/>
          <a:p>
            <a:r>
              <a:rPr lang="en-US" dirty="0"/>
              <a:t>Install the following NuGet packages:</a:t>
            </a:r>
          </a:p>
          <a:p>
            <a:pPr lvl="1"/>
            <a:r>
              <a:rPr lang="en-US" dirty="0"/>
              <a:t>Keras.NET</a:t>
            </a:r>
          </a:p>
          <a:p>
            <a:pPr lvl="1"/>
            <a:r>
              <a:rPr lang="en-US" dirty="0" err="1"/>
              <a:t>pythonnet_netstandard_py</a:t>
            </a:r>
            <a:r>
              <a:rPr lang="en-US" dirty="0"/>
              <a:t>{</a:t>
            </a:r>
            <a:r>
              <a:rPr lang="en-US" dirty="0" err="1"/>
              <a:t>pyVersion</a:t>
            </a:r>
            <a:r>
              <a:rPr lang="en-US" dirty="0"/>
              <a:t>}_{</a:t>
            </a:r>
            <a:r>
              <a:rPr lang="en-US" dirty="0" err="1"/>
              <a:t>os</a:t>
            </a:r>
            <a:r>
              <a:rPr lang="en-US" dirty="0"/>
              <a:t>}</a:t>
            </a:r>
          </a:p>
          <a:p>
            <a:pPr lvl="2"/>
            <a:r>
              <a:rPr lang="en-US" b="1" i="1" dirty="0"/>
              <a:t>pythonnet_netstandard_py35_linux</a:t>
            </a:r>
            <a:r>
              <a:rPr lang="en-US" dirty="0"/>
              <a:t> for Python 3.5.x on Linux</a:t>
            </a:r>
          </a:p>
          <a:p>
            <a:pPr lvl="2"/>
            <a:r>
              <a:rPr lang="en-US" b="1" i="1" dirty="0"/>
              <a:t>pythonnet_netstandard_py37_osx</a:t>
            </a:r>
            <a:r>
              <a:rPr lang="en-US" dirty="0"/>
              <a:t> for Python 3.7.x on Mac OS X</a:t>
            </a:r>
          </a:p>
          <a:p>
            <a:pPr lvl="2"/>
            <a:r>
              <a:rPr lang="en-US" b="1" i="1" dirty="0"/>
              <a:t>pythonnet_netstandard_py38_win</a:t>
            </a:r>
            <a:r>
              <a:rPr lang="en-US" dirty="0"/>
              <a:t> for Python 3.8.x on Windows</a:t>
            </a:r>
          </a:p>
          <a:p>
            <a:pPr lvl="1"/>
            <a:r>
              <a:rPr lang="en-US" dirty="0"/>
              <a:t>Add </a:t>
            </a:r>
            <a:r>
              <a:rPr lang="en-US" dirty="0" err="1"/>
              <a:t>SciSharp.TensorFlow.Redist</a:t>
            </a:r>
            <a:r>
              <a:rPr lang="en-US" dirty="0"/>
              <a:t> NuGet</a:t>
            </a:r>
          </a:p>
          <a:p>
            <a:pPr lvl="2"/>
            <a:r>
              <a:rPr lang="en-US" dirty="0"/>
              <a:t>should be compatible with the version of TF you want to use</a:t>
            </a:r>
          </a:p>
          <a:p>
            <a:pPr lvl="2"/>
            <a:endParaRPr lang="en-US" dirty="0"/>
          </a:p>
          <a:p>
            <a:endParaRPr lang="en-US" dirty="0"/>
          </a:p>
        </p:txBody>
      </p:sp>
      <p:pic>
        <p:nvPicPr>
          <p:cNvPr id="7" name="Picture 6">
            <a:extLst>
              <a:ext uri="{FF2B5EF4-FFF2-40B4-BE49-F238E27FC236}">
                <a16:creationId xmlns:a16="http://schemas.microsoft.com/office/drawing/2014/main" id="{F30E3CB8-B9E4-41F5-8C5E-FC2F0FFBA2EE}"/>
              </a:ext>
            </a:extLst>
          </p:cNvPr>
          <p:cNvPicPr>
            <a:picLocks noChangeAspect="1"/>
          </p:cNvPicPr>
          <p:nvPr/>
        </p:nvPicPr>
        <p:blipFill>
          <a:blip r:embed="rId3"/>
          <a:stretch>
            <a:fillRect/>
          </a:stretch>
        </p:blipFill>
        <p:spPr>
          <a:xfrm>
            <a:off x="4294797" y="5287818"/>
            <a:ext cx="3208422" cy="1117464"/>
          </a:xfrm>
          <a:prstGeom prst="rect">
            <a:avLst/>
          </a:prstGeom>
        </p:spPr>
      </p:pic>
      <p:sp>
        <p:nvSpPr>
          <p:cNvPr id="8" name="TextBox 7">
            <a:extLst>
              <a:ext uri="{FF2B5EF4-FFF2-40B4-BE49-F238E27FC236}">
                <a16:creationId xmlns:a16="http://schemas.microsoft.com/office/drawing/2014/main" id="{89647EDC-1EB0-4D3D-88EF-A6D81D528F74}"/>
              </a:ext>
            </a:extLst>
          </p:cNvPr>
          <p:cNvSpPr txBox="1"/>
          <p:nvPr/>
        </p:nvSpPr>
        <p:spPr>
          <a:xfrm>
            <a:off x="0" y="6488668"/>
            <a:ext cx="12192000" cy="369332"/>
          </a:xfrm>
          <a:prstGeom prst="rect">
            <a:avLst/>
          </a:prstGeom>
          <a:noFill/>
        </p:spPr>
        <p:txBody>
          <a:bodyPr wrap="square" rtlCol="0">
            <a:spAutoFit/>
          </a:bodyPr>
          <a:lstStyle/>
          <a:p>
            <a:pPr algn="ctr"/>
            <a:r>
              <a:rPr lang="en-US" dirty="0"/>
              <a:t>https://github.com/SciSharp/TensorFlow.NET</a:t>
            </a:r>
          </a:p>
        </p:txBody>
      </p:sp>
    </p:spTree>
    <p:extLst>
      <p:ext uri="{BB962C8B-B14F-4D97-AF65-F5344CB8AC3E}">
        <p14:creationId xmlns:p14="http://schemas.microsoft.com/office/powerpoint/2010/main" val="703670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Content Placeholder 17">
            <a:extLst>
              <a:ext uri="{FF2B5EF4-FFF2-40B4-BE49-F238E27FC236}">
                <a16:creationId xmlns:a16="http://schemas.microsoft.com/office/drawing/2014/main" id="{04320842-5098-405A-8650-F8494B6D9DA8}"/>
              </a:ext>
            </a:extLst>
          </p:cNvPr>
          <p:cNvPicPr>
            <a:picLocks noGrp="1" noChangeAspect="1"/>
          </p:cNvPicPr>
          <p:nvPr>
            <p:ph sz="half" idx="1"/>
          </p:nvPr>
        </p:nvPicPr>
        <p:blipFill>
          <a:blip r:embed="rId2"/>
          <a:stretch>
            <a:fillRect/>
          </a:stretch>
        </p:blipFill>
        <p:spPr>
          <a:xfrm>
            <a:off x="592990" y="1100831"/>
            <a:ext cx="5314806" cy="5155507"/>
          </a:xfrm>
        </p:spPr>
      </p:pic>
      <p:pic>
        <p:nvPicPr>
          <p:cNvPr id="22" name="Content Placeholder 21">
            <a:extLst>
              <a:ext uri="{FF2B5EF4-FFF2-40B4-BE49-F238E27FC236}">
                <a16:creationId xmlns:a16="http://schemas.microsoft.com/office/drawing/2014/main" id="{CB5D73BF-247C-4737-986F-3D90F2E4D9EF}"/>
              </a:ext>
            </a:extLst>
          </p:cNvPr>
          <p:cNvPicPr>
            <a:picLocks noGrp="1" noChangeAspect="1"/>
          </p:cNvPicPr>
          <p:nvPr>
            <p:ph sz="half" idx="2"/>
          </p:nvPr>
        </p:nvPicPr>
        <p:blipFill>
          <a:blip r:embed="rId3"/>
          <a:stretch>
            <a:fillRect/>
          </a:stretch>
        </p:blipFill>
        <p:spPr>
          <a:xfrm>
            <a:off x="6409277" y="1100831"/>
            <a:ext cx="5480615" cy="5100835"/>
          </a:xfrm>
        </p:spPr>
      </p:pic>
      <p:sp>
        <p:nvSpPr>
          <p:cNvPr id="23" name="TextBox 22">
            <a:extLst>
              <a:ext uri="{FF2B5EF4-FFF2-40B4-BE49-F238E27FC236}">
                <a16:creationId xmlns:a16="http://schemas.microsoft.com/office/drawing/2014/main" id="{34B303E0-0D6B-4627-BD39-8984FD406126}"/>
              </a:ext>
            </a:extLst>
          </p:cNvPr>
          <p:cNvSpPr txBox="1"/>
          <p:nvPr/>
        </p:nvSpPr>
        <p:spPr>
          <a:xfrm>
            <a:off x="592991" y="577049"/>
            <a:ext cx="5314806" cy="369332"/>
          </a:xfrm>
          <a:prstGeom prst="rect">
            <a:avLst/>
          </a:prstGeom>
          <a:noFill/>
        </p:spPr>
        <p:txBody>
          <a:bodyPr wrap="square" rtlCol="0">
            <a:spAutoFit/>
          </a:bodyPr>
          <a:lstStyle/>
          <a:p>
            <a:r>
              <a:rPr lang="en-US" dirty="0"/>
              <a:t>Python</a:t>
            </a:r>
          </a:p>
        </p:txBody>
      </p:sp>
      <p:sp>
        <p:nvSpPr>
          <p:cNvPr id="25" name="TextBox 24">
            <a:extLst>
              <a:ext uri="{FF2B5EF4-FFF2-40B4-BE49-F238E27FC236}">
                <a16:creationId xmlns:a16="http://schemas.microsoft.com/office/drawing/2014/main" id="{1313C996-CABF-468F-9345-0A2255129FF0}"/>
              </a:ext>
            </a:extLst>
          </p:cNvPr>
          <p:cNvSpPr txBox="1"/>
          <p:nvPr/>
        </p:nvSpPr>
        <p:spPr>
          <a:xfrm>
            <a:off x="6409277" y="577049"/>
            <a:ext cx="5480614" cy="369332"/>
          </a:xfrm>
          <a:prstGeom prst="rect">
            <a:avLst/>
          </a:prstGeom>
          <a:noFill/>
        </p:spPr>
        <p:txBody>
          <a:bodyPr wrap="square" rtlCol="0">
            <a:spAutoFit/>
          </a:bodyPr>
          <a:lstStyle/>
          <a:p>
            <a:r>
              <a:rPr lang="en-US" dirty="0"/>
              <a:t>C#</a:t>
            </a:r>
          </a:p>
        </p:txBody>
      </p:sp>
    </p:spTree>
    <p:extLst>
      <p:ext uri="{BB962C8B-B14F-4D97-AF65-F5344CB8AC3E}">
        <p14:creationId xmlns:p14="http://schemas.microsoft.com/office/powerpoint/2010/main" val="50786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09603118-AAE6-4B24-AB95-2958EA24107E}"/>
              </a:ext>
            </a:extLst>
          </p:cNvPr>
          <p:cNvPicPr>
            <a:picLocks noGrp="1" noChangeAspect="1"/>
          </p:cNvPicPr>
          <p:nvPr>
            <p:ph sz="half" idx="1"/>
          </p:nvPr>
        </p:nvPicPr>
        <p:blipFill>
          <a:blip r:embed="rId2"/>
          <a:stretch>
            <a:fillRect/>
          </a:stretch>
        </p:blipFill>
        <p:spPr>
          <a:xfrm>
            <a:off x="376350" y="691506"/>
            <a:ext cx="5317054" cy="5760144"/>
          </a:xfrm>
        </p:spPr>
      </p:pic>
      <p:pic>
        <p:nvPicPr>
          <p:cNvPr id="8" name="Content Placeholder 7">
            <a:extLst>
              <a:ext uri="{FF2B5EF4-FFF2-40B4-BE49-F238E27FC236}">
                <a16:creationId xmlns:a16="http://schemas.microsoft.com/office/drawing/2014/main" id="{AEBF3D5E-3374-4459-B6D1-F99CC38E6D86}"/>
              </a:ext>
            </a:extLst>
          </p:cNvPr>
          <p:cNvPicPr>
            <a:picLocks noGrp="1" noChangeAspect="1"/>
          </p:cNvPicPr>
          <p:nvPr>
            <p:ph sz="half" idx="2"/>
          </p:nvPr>
        </p:nvPicPr>
        <p:blipFill>
          <a:blip r:embed="rId3"/>
          <a:stretch>
            <a:fillRect/>
          </a:stretch>
        </p:blipFill>
        <p:spPr>
          <a:xfrm>
            <a:off x="6096000" y="691506"/>
            <a:ext cx="5192898" cy="5625638"/>
          </a:xfrm>
        </p:spPr>
      </p:pic>
      <p:sp>
        <p:nvSpPr>
          <p:cNvPr id="9" name="TextBox 8">
            <a:extLst>
              <a:ext uri="{FF2B5EF4-FFF2-40B4-BE49-F238E27FC236}">
                <a16:creationId xmlns:a16="http://schemas.microsoft.com/office/drawing/2014/main" id="{EE68499A-10AE-4254-9E2F-137748EE1892}"/>
              </a:ext>
            </a:extLst>
          </p:cNvPr>
          <p:cNvSpPr txBox="1"/>
          <p:nvPr/>
        </p:nvSpPr>
        <p:spPr>
          <a:xfrm>
            <a:off x="376350" y="337907"/>
            <a:ext cx="955711" cy="369332"/>
          </a:xfrm>
          <a:prstGeom prst="rect">
            <a:avLst/>
          </a:prstGeom>
          <a:noFill/>
        </p:spPr>
        <p:txBody>
          <a:bodyPr wrap="none" rtlCol="0">
            <a:spAutoFit/>
          </a:bodyPr>
          <a:lstStyle/>
          <a:p>
            <a:r>
              <a:rPr lang="en-US" dirty="0"/>
              <a:t>Python</a:t>
            </a:r>
          </a:p>
        </p:txBody>
      </p:sp>
      <p:sp>
        <p:nvSpPr>
          <p:cNvPr id="11" name="TextBox 10">
            <a:extLst>
              <a:ext uri="{FF2B5EF4-FFF2-40B4-BE49-F238E27FC236}">
                <a16:creationId xmlns:a16="http://schemas.microsoft.com/office/drawing/2014/main" id="{3025D141-C52C-4FC7-95EC-BE5FBEC39258}"/>
              </a:ext>
            </a:extLst>
          </p:cNvPr>
          <p:cNvSpPr txBox="1"/>
          <p:nvPr/>
        </p:nvSpPr>
        <p:spPr>
          <a:xfrm>
            <a:off x="6096000" y="337907"/>
            <a:ext cx="538930" cy="369332"/>
          </a:xfrm>
          <a:prstGeom prst="rect">
            <a:avLst/>
          </a:prstGeom>
          <a:noFill/>
        </p:spPr>
        <p:txBody>
          <a:bodyPr wrap="none" rtlCol="0">
            <a:spAutoFit/>
          </a:bodyPr>
          <a:lstStyle/>
          <a:p>
            <a:r>
              <a:rPr lang="en-US" dirty="0"/>
              <a:t>C#</a:t>
            </a:r>
          </a:p>
        </p:txBody>
      </p:sp>
    </p:spTree>
    <p:extLst>
      <p:ext uri="{BB962C8B-B14F-4D97-AF65-F5344CB8AC3E}">
        <p14:creationId xmlns:p14="http://schemas.microsoft.com/office/powerpoint/2010/main" val="3193272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87BA5BF2-8170-489C-88A3-96CA8D224257}"/>
              </a:ext>
            </a:extLst>
          </p:cNvPr>
          <p:cNvPicPr>
            <a:picLocks noGrp="1" noChangeAspect="1"/>
          </p:cNvPicPr>
          <p:nvPr>
            <p:ph sz="half" idx="1"/>
          </p:nvPr>
        </p:nvPicPr>
        <p:blipFill>
          <a:blip r:embed="rId2"/>
          <a:stretch>
            <a:fillRect/>
          </a:stretch>
        </p:blipFill>
        <p:spPr>
          <a:xfrm>
            <a:off x="488345" y="833015"/>
            <a:ext cx="5235106" cy="5671366"/>
          </a:xfrm>
        </p:spPr>
      </p:pic>
      <p:pic>
        <p:nvPicPr>
          <p:cNvPr id="8" name="Content Placeholder 7">
            <a:extLst>
              <a:ext uri="{FF2B5EF4-FFF2-40B4-BE49-F238E27FC236}">
                <a16:creationId xmlns:a16="http://schemas.microsoft.com/office/drawing/2014/main" id="{A797D00A-7DBC-40B1-9D48-B6085EB3520E}"/>
              </a:ext>
            </a:extLst>
          </p:cNvPr>
          <p:cNvPicPr>
            <a:picLocks noGrp="1" noChangeAspect="1"/>
          </p:cNvPicPr>
          <p:nvPr>
            <p:ph sz="half" idx="2"/>
          </p:nvPr>
        </p:nvPicPr>
        <p:blipFill>
          <a:blip r:embed="rId3"/>
          <a:stretch>
            <a:fillRect/>
          </a:stretch>
        </p:blipFill>
        <p:spPr>
          <a:xfrm>
            <a:off x="6010721" y="833015"/>
            <a:ext cx="5388208" cy="5837224"/>
          </a:xfrm>
        </p:spPr>
      </p:pic>
      <p:sp>
        <p:nvSpPr>
          <p:cNvPr id="10" name="TextBox 9">
            <a:extLst>
              <a:ext uri="{FF2B5EF4-FFF2-40B4-BE49-F238E27FC236}">
                <a16:creationId xmlns:a16="http://schemas.microsoft.com/office/drawing/2014/main" id="{2663E499-AFFB-4764-AFBB-4A62EB08E5B6}"/>
              </a:ext>
            </a:extLst>
          </p:cNvPr>
          <p:cNvSpPr txBox="1"/>
          <p:nvPr/>
        </p:nvSpPr>
        <p:spPr>
          <a:xfrm>
            <a:off x="488345" y="463683"/>
            <a:ext cx="955711" cy="369332"/>
          </a:xfrm>
          <a:prstGeom prst="rect">
            <a:avLst/>
          </a:prstGeom>
          <a:noFill/>
        </p:spPr>
        <p:txBody>
          <a:bodyPr wrap="none" rtlCol="0">
            <a:spAutoFit/>
          </a:bodyPr>
          <a:lstStyle/>
          <a:p>
            <a:r>
              <a:rPr lang="en-US" dirty="0"/>
              <a:t>Python</a:t>
            </a:r>
          </a:p>
        </p:txBody>
      </p:sp>
      <p:sp>
        <p:nvSpPr>
          <p:cNvPr id="12" name="TextBox 11">
            <a:extLst>
              <a:ext uri="{FF2B5EF4-FFF2-40B4-BE49-F238E27FC236}">
                <a16:creationId xmlns:a16="http://schemas.microsoft.com/office/drawing/2014/main" id="{C43ED653-699F-4ED0-BC7C-CA9D016FF691}"/>
              </a:ext>
            </a:extLst>
          </p:cNvPr>
          <p:cNvSpPr txBox="1"/>
          <p:nvPr/>
        </p:nvSpPr>
        <p:spPr>
          <a:xfrm>
            <a:off x="6010721" y="463683"/>
            <a:ext cx="538930" cy="369332"/>
          </a:xfrm>
          <a:prstGeom prst="rect">
            <a:avLst/>
          </a:prstGeom>
          <a:noFill/>
        </p:spPr>
        <p:txBody>
          <a:bodyPr wrap="none" rtlCol="0">
            <a:spAutoFit/>
          </a:bodyPr>
          <a:lstStyle/>
          <a:p>
            <a:r>
              <a:rPr lang="en-US" dirty="0"/>
              <a:t>C#</a:t>
            </a:r>
          </a:p>
        </p:txBody>
      </p:sp>
    </p:spTree>
    <p:extLst>
      <p:ext uri="{BB962C8B-B14F-4D97-AF65-F5344CB8AC3E}">
        <p14:creationId xmlns:p14="http://schemas.microsoft.com/office/powerpoint/2010/main" val="6378869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02CADD3-39BE-D7C5-5951-ABF7A9FC2B04}"/>
              </a:ext>
            </a:extLst>
          </p:cNvPr>
          <p:cNvPicPr>
            <a:picLocks noChangeAspect="1"/>
          </p:cNvPicPr>
          <p:nvPr/>
        </p:nvPicPr>
        <p:blipFill>
          <a:blip r:embed="rId2"/>
          <a:stretch>
            <a:fillRect/>
          </a:stretch>
        </p:blipFill>
        <p:spPr>
          <a:xfrm>
            <a:off x="1813226" y="1164139"/>
            <a:ext cx="8565548" cy="4529722"/>
          </a:xfrm>
          <a:prstGeom prst="rect">
            <a:avLst/>
          </a:prstGeom>
        </p:spPr>
      </p:pic>
    </p:spTree>
    <p:extLst>
      <p:ext uri="{BB962C8B-B14F-4D97-AF65-F5344CB8AC3E}">
        <p14:creationId xmlns:p14="http://schemas.microsoft.com/office/powerpoint/2010/main" val="11590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BB9422-81A6-495A-9D26-11D68EA4BA5A}"/>
              </a:ext>
            </a:extLst>
          </p:cNvPr>
          <p:cNvSpPr>
            <a:spLocks noGrp="1"/>
          </p:cNvSpPr>
          <p:nvPr>
            <p:ph type="title"/>
          </p:nvPr>
        </p:nvSpPr>
        <p:spPr/>
        <p:txBody>
          <a:bodyPr/>
          <a:lstStyle/>
          <a:p>
            <a:r>
              <a:rPr lang="en-US" dirty="0"/>
              <a:t>Caveat for Keras.NET</a:t>
            </a:r>
          </a:p>
        </p:txBody>
      </p:sp>
      <p:sp>
        <p:nvSpPr>
          <p:cNvPr id="2" name="Content Placeholder 1">
            <a:extLst>
              <a:ext uri="{FF2B5EF4-FFF2-40B4-BE49-F238E27FC236}">
                <a16:creationId xmlns:a16="http://schemas.microsoft.com/office/drawing/2014/main" id="{52919A6D-2E9B-473B-A289-F6150DFBEBC8}"/>
              </a:ext>
            </a:extLst>
          </p:cNvPr>
          <p:cNvSpPr>
            <a:spLocks noGrp="1"/>
          </p:cNvSpPr>
          <p:nvPr>
            <p:ph sz="half" idx="1"/>
          </p:nvPr>
        </p:nvSpPr>
        <p:spPr/>
        <p:txBody>
          <a:bodyPr/>
          <a:lstStyle/>
          <a:p>
            <a:r>
              <a:rPr lang="en-US" dirty="0"/>
              <a:t>If you are using Python Virtual Environments, then you need to set the </a:t>
            </a:r>
            <a:r>
              <a:rPr lang="en-US" b="1" i="1" dirty="0" err="1"/>
              <a:t>PythonHome</a:t>
            </a:r>
            <a:r>
              <a:rPr lang="en-US" dirty="0"/>
              <a:t> path and initialize the engine</a:t>
            </a:r>
          </a:p>
          <a:p>
            <a:endParaRPr lang="en-US" dirty="0"/>
          </a:p>
        </p:txBody>
      </p:sp>
      <p:pic>
        <p:nvPicPr>
          <p:cNvPr id="9" name="Content Placeholder 8">
            <a:extLst>
              <a:ext uri="{FF2B5EF4-FFF2-40B4-BE49-F238E27FC236}">
                <a16:creationId xmlns:a16="http://schemas.microsoft.com/office/drawing/2014/main" id="{819E4C7E-6FF4-4A49-87D7-07877CBEAC19}"/>
              </a:ext>
            </a:extLst>
          </p:cNvPr>
          <p:cNvPicPr>
            <a:picLocks noGrp="1" noChangeAspect="1"/>
          </p:cNvPicPr>
          <p:nvPr>
            <p:ph sz="half" idx="2"/>
          </p:nvPr>
        </p:nvPicPr>
        <p:blipFill>
          <a:blip r:embed="rId2"/>
          <a:stretch>
            <a:fillRect/>
          </a:stretch>
        </p:blipFill>
        <p:spPr>
          <a:xfrm>
            <a:off x="5909678" y="3309778"/>
            <a:ext cx="5483762" cy="1697356"/>
          </a:xfrm>
        </p:spPr>
      </p:pic>
    </p:spTree>
    <p:extLst>
      <p:ext uri="{BB962C8B-B14F-4D97-AF65-F5344CB8AC3E}">
        <p14:creationId xmlns:p14="http://schemas.microsoft.com/office/powerpoint/2010/main" val="13616608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ED976-121B-491D-8521-C8C1713B6BEE}"/>
              </a:ext>
            </a:extLst>
          </p:cNvPr>
          <p:cNvSpPr>
            <a:spLocks noGrp="1"/>
          </p:cNvSpPr>
          <p:nvPr>
            <p:ph type="title"/>
          </p:nvPr>
        </p:nvSpPr>
        <p:spPr/>
        <p:txBody>
          <a:bodyPr/>
          <a:lstStyle/>
          <a:p>
            <a:r>
              <a:rPr lang="en-US" dirty="0" err="1"/>
              <a:t>Keras.Net</a:t>
            </a:r>
            <a:endParaRPr lang="en-US" dirty="0"/>
          </a:p>
        </p:txBody>
      </p:sp>
      <p:sp>
        <p:nvSpPr>
          <p:cNvPr id="3" name="Content Placeholder 2">
            <a:extLst>
              <a:ext uri="{FF2B5EF4-FFF2-40B4-BE49-F238E27FC236}">
                <a16:creationId xmlns:a16="http://schemas.microsoft.com/office/drawing/2014/main" id="{4ABD0461-8E10-416A-9E8D-26781EFFFC7B}"/>
              </a:ext>
            </a:extLst>
          </p:cNvPr>
          <p:cNvSpPr>
            <a:spLocks noGrp="1"/>
          </p:cNvSpPr>
          <p:nvPr>
            <p:ph sz="half" idx="1"/>
          </p:nvPr>
        </p:nvSpPr>
        <p:spPr/>
        <p:txBody>
          <a:bodyPr>
            <a:normAutofit fontScale="77500" lnSpcReduction="20000"/>
          </a:bodyPr>
          <a:lstStyle/>
          <a:p>
            <a:r>
              <a:rPr lang="en-US" dirty="0"/>
              <a:t>Kind of cool, but crappy, since we must:</a:t>
            </a:r>
          </a:p>
          <a:p>
            <a:pPr lvl="1"/>
            <a:r>
              <a:rPr lang="en-US" dirty="0"/>
              <a:t>Install Python, Keras, and any dependencies</a:t>
            </a:r>
          </a:p>
          <a:p>
            <a:pPr lvl="1"/>
            <a:r>
              <a:rPr lang="en-US" dirty="0"/>
              <a:t>Tie our code to a specific version of Python and Operating System (separate projects for Linux and Windows). </a:t>
            </a:r>
            <a:r>
              <a:rPr lang="en-US" b="1" i="1" dirty="0"/>
              <a:t>pythonnet_netstandard_py38_win</a:t>
            </a:r>
          </a:p>
          <a:p>
            <a:pPr lvl="1"/>
            <a:r>
              <a:rPr lang="en-US" dirty="0"/>
              <a:t>Be tied to a specific version of TensorFlow</a:t>
            </a:r>
          </a:p>
          <a:p>
            <a:pPr lvl="1"/>
            <a:r>
              <a:rPr lang="en-US" dirty="0"/>
              <a:t>Perform the virtual environment work around if different applications need different versions of the same library</a:t>
            </a:r>
          </a:p>
          <a:p>
            <a:pPr lvl="1"/>
            <a:r>
              <a:rPr lang="en-US" dirty="0"/>
              <a:t>Then deployment environments must exactly mirror development or we will get issues that are hard to find and track down, since “It Works on my machine”.</a:t>
            </a:r>
          </a:p>
          <a:p>
            <a:endParaRPr lang="en-US" dirty="0"/>
          </a:p>
        </p:txBody>
      </p:sp>
      <p:sp>
        <p:nvSpPr>
          <p:cNvPr id="4" name="Content Placeholder 3">
            <a:extLst>
              <a:ext uri="{FF2B5EF4-FFF2-40B4-BE49-F238E27FC236}">
                <a16:creationId xmlns:a16="http://schemas.microsoft.com/office/drawing/2014/main" id="{B2D862C9-F7E0-4BD1-A2AB-DC373855AB18}"/>
              </a:ext>
            </a:extLst>
          </p:cNvPr>
          <p:cNvSpPr>
            <a:spLocks noGrp="1"/>
          </p:cNvSpPr>
          <p:nvPr>
            <p:ph sz="half" idx="2"/>
          </p:nvPr>
        </p:nvSpPr>
        <p:spPr/>
        <p:txBody>
          <a:bodyPr>
            <a:normAutofit fontScale="77500" lnSpcReduction="20000"/>
          </a:bodyPr>
          <a:lstStyle/>
          <a:p>
            <a:r>
              <a:rPr lang="en-US" dirty="0"/>
              <a:t>So, how can we solve these issues, make it so deployment isn’t a nightmare, and have consistency across environments.</a:t>
            </a:r>
          </a:p>
          <a:p>
            <a:pPr marL="800100" lvl="1" indent="-342900">
              <a:buAutoNum type="arabicPeriod"/>
            </a:pPr>
            <a:r>
              <a:rPr lang="en-US" dirty="0"/>
              <a:t>Thoroughly document the development setup and environment, so all dev’s are on the same page.</a:t>
            </a:r>
          </a:p>
          <a:p>
            <a:pPr marL="800100" lvl="1" indent="-342900">
              <a:buAutoNum type="arabicPeriod"/>
            </a:pPr>
            <a:r>
              <a:rPr lang="en-US" dirty="0"/>
              <a:t>Move this “</a:t>
            </a:r>
            <a:r>
              <a:rPr lang="en-US" dirty="0" err="1"/>
              <a:t>Keras</a:t>
            </a:r>
            <a:r>
              <a:rPr lang="en-US" dirty="0"/>
              <a:t> Training” processes into separate projects and don’t deploy them (just like how we don’t deploy test projects)</a:t>
            </a:r>
          </a:p>
          <a:p>
            <a:pPr marL="800100" lvl="1" indent="-342900">
              <a:buAutoNum type="arabicPeriod"/>
            </a:pPr>
            <a:r>
              <a:rPr lang="en-US" dirty="0"/>
              <a:t>Run these projects locally to train and build the models for inference</a:t>
            </a:r>
          </a:p>
          <a:p>
            <a:pPr marL="800100" lvl="1" indent="-342900">
              <a:buAutoNum type="arabicPeriod"/>
            </a:pPr>
            <a:r>
              <a:rPr lang="en-US" dirty="0"/>
              <a:t>Only deploy the inference model</a:t>
            </a:r>
          </a:p>
          <a:p>
            <a:r>
              <a:rPr lang="en-US" dirty="0"/>
              <a:t>Other options</a:t>
            </a:r>
          </a:p>
          <a:p>
            <a:pPr lvl="1"/>
            <a:r>
              <a:rPr lang="en-US" dirty="0"/>
              <a:t>Wrap the model into a service and call the service (</a:t>
            </a:r>
            <a:r>
              <a:rPr lang="en-US" dirty="0" err="1"/>
              <a:t>MLaaS</a:t>
            </a:r>
            <a:r>
              <a:rPr lang="en-US" dirty="0"/>
              <a:t>)</a:t>
            </a:r>
          </a:p>
          <a:p>
            <a:pPr lvl="1"/>
            <a:r>
              <a:rPr lang="en-US" dirty="0"/>
              <a:t>Deploy using Docker containers so you can ensure consistency between .NET and Python dependencies and runtimes</a:t>
            </a:r>
          </a:p>
          <a:p>
            <a:pPr lvl="1"/>
            <a:r>
              <a:rPr lang="en-US" dirty="0"/>
              <a:t>Utilize ONNX</a:t>
            </a:r>
          </a:p>
        </p:txBody>
      </p:sp>
    </p:spTree>
    <p:extLst>
      <p:ext uri="{BB962C8B-B14F-4D97-AF65-F5344CB8AC3E}">
        <p14:creationId xmlns:p14="http://schemas.microsoft.com/office/powerpoint/2010/main" val="1971722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9ADC66F-20D0-8400-2A56-ABF7EA54E27D}"/>
              </a:ext>
            </a:extLst>
          </p:cNvPr>
          <p:cNvSpPr>
            <a:spLocks noGrp="1"/>
          </p:cNvSpPr>
          <p:nvPr>
            <p:ph type="title"/>
          </p:nvPr>
        </p:nvSpPr>
        <p:spPr/>
        <p:txBody>
          <a:bodyPr/>
          <a:lstStyle/>
          <a:p>
            <a:r>
              <a:rPr lang="en-US" dirty="0" err="1"/>
              <a:t>SciSharp</a:t>
            </a:r>
            <a:r>
              <a:rPr lang="en-US" dirty="0"/>
              <a:t> Stack</a:t>
            </a:r>
            <a:br>
              <a:rPr lang="en-US" dirty="0"/>
            </a:br>
            <a:r>
              <a:rPr lang="en-US" sz="2400" dirty="0"/>
              <a:t>More Packages</a:t>
            </a:r>
          </a:p>
        </p:txBody>
      </p:sp>
      <p:sp>
        <p:nvSpPr>
          <p:cNvPr id="6" name="Content Placeholder 5">
            <a:extLst>
              <a:ext uri="{FF2B5EF4-FFF2-40B4-BE49-F238E27FC236}">
                <a16:creationId xmlns:a16="http://schemas.microsoft.com/office/drawing/2014/main" id="{7B53AE46-74B0-5A61-6DDE-9CDD2272E259}"/>
              </a:ext>
            </a:extLst>
          </p:cNvPr>
          <p:cNvSpPr>
            <a:spLocks noGrp="1"/>
          </p:cNvSpPr>
          <p:nvPr>
            <p:ph idx="1"/>
          </p:nvPr>
        </p:nvSpPr>
        <p:spPr/>
        <p:txBody>
          <a:bodyPr/>
          <a:lstStyle/>
          <a:p>
            <a:r>
              <a:rPr lang="en-US" dirty="0" err="1"/>
              <a:t>BotSharp</a:t>
            </a:r>
            <a:r>
              <a:rPr lang="en-US" dirty="0"/>
              <a:t>: open-source AU agent application framework</a:t>
            </a:r>
          </a:p>
          <a:p>
            <a:r>
              <a:rPr lang="en-US" dirty="0" err="1"/>
              <a:t>BotSharp</a:t>
            </a:r>
            <a:r>
              <a:rPr lang="en-US" dirty="0"/>
              <a:t>-UI: UI for </a:t>
            </a:r>
            <a:r>
              <a:rPr lang="en-US" dirty="0" err="1"/>
              <a:t>BotSharp</a:t>
            </a:r>
            <a:endParaRPr lang="en-US" dirty="0"/>
          </a:p>
          <a:p>
            <a:r>
              <a:rPr lang="en-US" dirty="0" err="1"/>
              <a:t>LLamaSharp</a:t>
            </a:r>
            <a:r>
              <a:rPr lang="en-US" dirty="0"/>
              <a:t>: cross-platform library to run </a:t>
            </a:r>
            <a:r>
              <a:rPr lang="en-US" dirty="0" err="1"/>
              <a:t>LLaMA</a:t>
            </a:r>
            <a:r>
              <a:rPr lang="en-US" dirty="0"/>
              <a:t> models locally</a:t>
            </a:r>
          </a:p>
          <a:p>
            <a:r>
              <a:rPr lang="en-US" dirty="0" err="1"/>
              <a:t>SharpCV</a:t>
            </a:r>
            <a:r>
              <a:rPr lang="en-US" dirty="0"/>
              <a:t>: image library combining OpenCV and </a:t>
            </a:r>
            <a:r>
              <a:rPr lang="en-US" dirty="0" err="1"/>
              <a:t>NumSharp</a:t>
            </a:r>
            <a:endParaRPr lang="en-US" dirty="0"/>
          </a:p>
          <a:p>
            <a:r>
              <a:rPr lang="en-US" dirty="0"/>
              <a:t>Awesome-</a:t>
            </a:r>
            <a:r>
              <a:rPr lang="en-US" dirty="0" err="1"/>
              <a:t>DotNET</a:t>
            </a:r>
            <a:r>
              <a:rPr lang="en-US" dirty="0"/>
              <a:t>-MCP: a curated list of MCP resources for </a:t>
            </a:r>
            <a:r>
              <a:rPr lang="en-US" dirty="0" err="1"/>
              <a:t>.Net</a:t>
            </a:r>
            <a:endParaRPr lang="en-US" dirty="0"/>
          </a:p>
        </p:txBody>
      </p:sp>
    </p:spTree>
    <p:extLst>
      <p:ext uri="{BB962C8B-B14F-4D97-AF65-F5344CB8AC3E}">
        <p14:creationId xmlns:p14="http://schemas.microsoft.com/office/powerpoint/2010/main" val="1121662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EAE9F-3CAB-772B-A770-B94EDBD2FFE5}"/>
              </a:ext>
            </a:extLst>
          </p:cNvPr>
          <p:cNvSpPr>
            <a:spLocks noGrp="1"/>
          </p:cNvSpPr>
          <p:nvPr>
            <p:ph type="title"/>
          </p:nvPr>
        </p:nvSpPr>
        <p:spPr/>
        <p:txBody>
          <a:bodyPr/>
          <a:lstStyle/>
          <a:p>
            <a:r>
              <a:rPr lang="en-US" sz="3700" dirty="0"/>
              <a:t>Option 3. Build Elsewhere and Run in C#</a:t>
            </a:r>
          </a:p>
        </p:txBody>
      </p:sp>
      <p:sp>
        <p:nvSpPr>
          <p:cNvPr id="3" name="Content Placeholder 2">
            <a:extLst>
              <a:ext uri="{FF2B5EF4-FFF2-40B4-BE49-F238E27FC236}">
                <a16:creationId xmlns:a16="http://schemas.microsoft.com/office/drawing/2014/main" id="{4A98322B-C520-2F56-EB75-CBA65FB08307}"/>
              </a:ext>
            </a:extLst>
          </p:cNvPr>
          <p:cNvSpPr>
            <a:spLocks noGrp="1"/>
          </p:cNvSpPr>
          <p:nvPr>
            <p:ph idx="1"/>
          </p:nvPr>
        </p:nvSpPr>
        <p:spPr/>
        <p:txBody>
          <a:bodyPr>
            <a:normAutofit lnSpcReduction="10000"/>
          </a:bodyPr>
          <a:lstStyle/>
          <a:p>
            <a:pPr marL="457200" indent="-457200">
              <a:buAutoNum type="arabicPeriod"/>
            </a:pPr>
            <a:r>
              <a:rPr lang="en-US" sz="2800" dirty="0"/>
              <a:t>Build (or download) a model wherever you like: Python, Java, Google Collab, </a:t>
            </a:r>
            <a:r>
              <a:rPr lang="en-US" sz="2800" dirty="0" err="1"/>
              <a:t>HuggingFace</a:t>
            </a:r>
            <a:r>
              <a:rPr lang="en-US" sz="2800" dirty="0"/>
              <a:t>, etc.</a:t>
            </a:r>
          </a:p>
          <a:p>
            <a:pPr marL="457200" indent="-457200">
              <a:buAutoNum type="arabicPeriod"/>
            </a:pPr>
            <a:endParaRPr lang="en-US" sz="2800" dirty="0"/>
          </a:p>
          <a:p>
            <a:pPr marL="457200" indent="-457200">
              <a:buAutoNum type="arabicPeriod"/>
            </a:pPr>
            <a:r>
              <a:rPr lang="en-US" sz="2800" dirty="0"/>
              <a:t>Save the model to a format that can be consumed by C#</a:t>
            </a:r>
          </a:p>
          <a:p>
            <a:pPr marL="457200" indent="-457200">
              <a:buAutoNum type="arabicPeriod"/>
            </a:pPr>
            <a:endParaRPr lang="en-US" sz="2800" dirty="0"/>
          </a:p>
          <a:p>
            <a:pPr marL="457200" indent="-457200">
              <a:buAutoNum type="arabicPeriod"/>
            </a:pPr>
            <a:r>
              <a:rPr lang="en-US" sz="2800" dirty="0"/>
              <a:t>Run the model in C# without external dependencies</a:t>
            </a:r>
          </a:p>
        </p:txBody>
      </p:sp>
    </p:spTree>
    <p:extLst>
      <p:ext uri="{BB962C8B-B14F-4D97-AF65-F5344CB8AC3E}">
        <p14:creationId xmlns:p14="http://schemas.microsoft.com/office/powerpoint/2010/main" val="1796876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651F133-443A-AD6E-1911-641F59600121}"/>
              </a:ext>
            </a:extLst>
          </p:cNvPr>
          <p:cNvSpPr>
            <a:spLocks noGrp="1"/>
          </p:cNvSpPr>
          <p:nvPr>
            <p:ph idx="1"/>
          </p:nvPr>
        </p:nvSpPr>
        <p:spPr/>
        <p:txBody>
          <a:bodyPr>
            <a:normAutofit/>
          </a:bodyPr>
          <a:lstStyle/>
          <a:p>
            <a:pPr marL="0" indent="0" algn="ctr">
              <a:buNone/>
            </a:pPr>
            <a:r>
              <a:rPr lang="en-US" sz="9600" dirty="0"/>
              <a:t>CONSUMING MODELS</a:t>
            </a:r>
          </a:p>
        </p:txBody>
      </p:sp>
    </p:spTree>
    <p:extLst>
      <p:ext uri="{BB962C8B-B14F-4D97-AF65-F5344CB8AC3E}">
        <p14:creationId xmlns:p14="http://schemas.microsoft.com/office/powerpoint/2010/main" val="7573742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0C190-8BBC-4269-B089-71405B02A3A2}"/>
              </a:ext>
            </a:extLst>
          </p:cNvPr>
          <p:cNvSpPr>
            <a:spLocks noGrp="1"/>
          </p:cNvSpPr>
          <p:nvPr>
            <p:ph type="title"/>
          </p:nvPr>
        </p:nvSpPr>
        <p:spPr/>
        <p:txBody>
          <a:bodyPr/>
          <a:lstStyle/>
          <a:p>
            <a:r>
              <a:rPr lang="en-US" dirty="0"/>
              <a:t>First: A Question</a:t>
            </a:r>
          </a:p>
        </p:txBody>
      </p:sp>
      <p:sp>
        <p:nvSpPr>
          <p:cNvPr id="3" name="Content Placeholder 2">
            <a:extLst>
              <a:ext uri="{FF2B5EF4-FFF2-40B4-BE49-F238E27FC236}">
                <a16:creationId xmlns:a16="http://schemas.microsoft.com/office/drawing/2014/main" id="{DACEE78A-BE8A-4A9A-9C9B-B8F45886FF05}"/>
              </a:ext>
            </a:extLst>
          </p:cNvPr>
          <p:cNvSpPr>
            <a:spLocks noGrp="1"/>
          </p:cNvSpPr>
          <p:nvPr>
            <p:ph sz="half" idx="1"/>
          </p:nvPr>
        </p:nvSpPr>
        <p:spPr/>
        <p:txBody>
          <a:bodyPr/>
          <a:lstStyle/>
          <a:p>
            <a:r>
              <a:rPr lang="en-US" dirty="0"/>
              <a:t>Say we have two web apps, one written in Java, and one in C#, how can they communicate and pass data back and forth?</a:t>
            </a:r>
          </a:p>
        </p:txBody>
      </p:sp>
      <p:sp>
        <p:nvSpPr>
          <p:cNvPr id="4" name="Content Placeholder 3">
            <a:extLst>
              <a:ext uri="{FF2B5EF4-FFF2-40B4-BE49-F238E27FC236}">
                <a16:creationId xmlns:a16="http://schemas.microsoft.com/office/drawing/2014/main" id="{25F145DD-5DCA-4707-911F-6A1544A07BD7}"/>
              </a:ext>
            </a:extLst>
          </p:cNvPr>
          <p:cNvSpPr>
            <a:spLocks noGrp="1"/>
          </p:cNvSpPr>
          <p:nvPr>
            <p:ph sz="half" idx="2"/>
          </p:nvPr>
        </p:nvSpPr>
        <p:spPr/>
        <p:txBody>
          <a:bodyPr/>
          <a:lstStyle/>
          <a:p>
            <a:r>
              <a:rPr lang="en-US" dirty="0"/>
              <a:t>HTTP Protocol</a:t>
            </a:r>
          </a:p>
          <a:p>
            <a:r>
              <a:rPr lang="en-US" dirty="0"/>
              <a:t>JSON Data Format</a:t>
            </a:r>
          </a:p>
        </p:txBody>
      </p:sp>
      <p:pic>
        <p:nvPicPr>
          <p:cNvPr id="8" name="Picture 7" descr="Diagram&#10;&#10;Description automatically generated">
            <a:extLst>
              <a:ext uri="{FF2B5EF4-FFF2-40B4-BE49-F238E27FC236}">
                <a16:creationId xmlns:a16="http://schemas.microsoft.com/office/drawing/2014/main" id="{47E59E2E-C7B4-47D0-A877-291281CC59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8689" y="3674950"/>
            <a:ext cx="3105583" cy="1991003"/>
          </a:xfrm>
          <a:prstGeom prst="rect">
            <a:avLst/>
          </a:prstGeom>
        </p:spPr>
      </p:pic>
      <p:pic>
        <p:nvPicPr>
          <p:cNvPr id="10" name="Picture 9" descr="Text&#10;&#10;Description automatically generated">
            <a:extLst>
              <a:ext uri="{FF2B5EF4-FFF2-40B4-BE49-F238E27FC236}">
                <a16:creationId xmlns:a16="http://schemas.microsoft.com/office/drawing/2014/main" id="{FB4C177B-B76A-4A1A-989C-322126E901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33650" y="3727344"/>
            <a:ext cx="2114845" cy="1886213"/>
          </a:xfrm>
          <a:prstGeom prst="rect">
            <a:avLst/>
          </a:prstGeom>
        </p:spPr>
      </p:pic>
      <p:sp>
        <p:nvSpPr>
          <p:cNvPr id="11" name="TextBox 10">
            <a:extLst>
              <a:ext uri="{FF2B5EF4-FFF2-40B4-BE49-F238E27FC236}">
                <a16:creationId xmlns:a16="http://schemas.microsoft.com/office/drawing/2014/main" id="{4E1599A5-4794-46A6-BEE2-B37AFBB7D81F}"/>
              </a:ext>
            </a:extLst>
          </p:cNvPr>
          <p:cNvSpPr txBox="1"/>
          <p:nvPr/>
        </p:nvSpPr>
        <p:spPr>
          <a:xfrm>
            <a:off x="0" y="6488668"/>
            <a:ext cx="12192000" cy="369332"/>
          </a:xfrm>
          <a:prstGeom prst="rect">
            <a:avLst/>
          </a:prstGeom>
          <a:noFill/>
        </p:spPr>
        <p:txBody>
          <a:bodyPr wrap="square" rtlCol="0">
            <a:spAutoFit/>
          </a:bodyPr>
          <a:lstStyle/>
          <a:p>
            <a:pPr algn="ctr"/>
            <a:r>
              <a:rPr lang="en-US" dirty="0"/>
              <a:t>https://www.wix.com/corvid/forum/community-discussion/wixfetch-json-help</a:t>
            </a:r>
          </a:p>
        </p:txBody>
      </p:sp>
    </p:spTree>
    <p:extLst>
      <p:ext uri="{BB962C8B-B14F-4D97-AF65-F5344CB8AC3E}">
        <p14:creationId xmlns:p14="http://schemas.microsoft.com/office/powerpoint/2010/main" val="2615283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52387CD-5E91-48A9-99B3-362DA2C2A79D}"/>
              </a:ext>
            </a:extLst>
          </p:cNvPr>
          <p:cNvSpPr>
            <a:spLocks noGrp="1"/>
          </p:cNvSpPr>
          <p:nvPr>
            <p:ph type="title"/>
          </p:nvPr>
        </p:nvSpPr>
        <p:spPr/>
        <p:txBody>
          <a:bodyPr/>
          <a:lstStyle/>
          <a:p>
            <a:r>
              <a:rPr lang="en-US" dirty="0"/>
              <a:t>ONNX</a:t>
            </a:r>
          </a:p>
        </p:txBody>
      </p:sp>
      <p:sp>
        <p:nvSpPr>
          <p:cNvPr id="6" name="Content Placeholder 5">
            <a:extLst>
              <a:ext uri="{FF2B5EF4-FFF2-40B4-BE49-F238E27FC236}">
                <a16:creationId xmlns:a16="http://schemas.microsoft.com/office/drawing/2014/main" id="{2538B721-0E42-4B0E-902E-CFEE7F8B5D2E}"/>
              </a:ext>
            </a:extLst>
          </p:cNvPr>
          <p:cNvSpPr>
            <a:spLocks noGrp="1"/>
          </p:cNvSpPr>
          <p:nvPr>
            <p:ph idx="1"/>
          </p:nvPr>
        </p:nvSpPr>
        <p:spPr/>
        <p:txBody>
          <a:bodyPr>
            <a:normAutofit/>
          </a:bodyPr>
          <a:lstStyle/>
          <a:p>
            <a:r>
              <a:rPr lang="en-US" dirty="0"/>
              <a:t>Stands for </a:t>
            </a:r>
            <a:r>
              <a:rPr lang="en-US" b="1" i="1" dirty="0"/>
              <a:t>Open Neural Network Exchange</a:t>
            </a:r>
          </a:p>
          <a:p>
            <a:r>
              <a:rPr lang="en-US" dirty="0"/>
              <a:t>Has two parts:</a:t>
            </a:r>
          </a:p>
          <a:p>
            <a:pPr lvl="1"/>
            <a:r>
              <a:rPr lang="en-US" b="1" i="1" dirty="0"/>
              <a:t>File format </a:t>
            </a:r>
            <a:r>
              <a:rPr lang="en-US" dirty="0"/>
              <a:t>(similar to JSON) for representing ML models</a:t>
            </a:r>
          </a:p>
          <a:p>
            <a:pPr lvl="1"/>
            <a:r>
              <a:rPr lang="en-US" b="1" i="1" dirty="0"/>
              <a:t>Runtime </a:t>
            </a:r>
            <a:r>
              <a:rPr lang="en-US" dirty="0"/>
              <a:t>(similar to protocol) which provides the building blocks of ML so that you can take a model build in one system and use it in another</a:t>
            </a:r>
          </a:p>
          <a:p>
            <a:r>
              <a:rPr lang="en-US" dirty="0"/>
              <a:t>Built by Microsoft and Facebook in 2017</a:t>
            </a:r>
          </a:p>
          <a:p>
            <a:r>
              <a:rPr lang="en-US" dirty="0"/>
              <a:t>In short, its…Pure Awesomeness</a:t>
            </a:r>
          </a:p>
          <a:p>
            <a:endParaRPr lang="en-US" dirty="0"/>
          </a:p>
        </p:txBody>
      </p:sp>
      <p:sp>
        <p:nvSpPr>
          <p:cNvPr id="2" name="TextBox 1">
            <a:extLst>
              <a:ext uri="{FF2B5EF4-FFF2-40B4-BE49-F238E27FC236}">
                <a16:creationId xmlns:a16="http://schemas.microsoft.com/office/drawing/2014/main" id="{C57DC312-CB01-4536-B3FE-73D0C62CC12F}"/>
              </a:ext>
            </a:extLst>
          </p:cNvPr>
          <p:cNvSpPr txBox="1"/>
          <p:nvPr/>
        </p:nvSpPr>
        <p:spPr>
          <a:xfrm>
            <a:off x="1" y="6488668"/>
            <a:ext cx="12192000" cy="369332"/>
          </a:xfrm>
          <a:prstGeom prst="rect">
            <a:avLst/>
          </a:prstGeom>
          <a:noFill/>
        </p:spPr>
        <p:txBody>
          <a:bodyPr wrap="square" rtlCol="0">
            <a:spAutoFit/>
          </a:bodyPr>
          <a:lstStyle/>
          <a:p>
            <a:pPr algn="ctr"/>
            <a:r>
              <a:rPr lang="en-US" dirty="0"/>
              <a:t>https://commons.wikimedia.org/wiki/File:ONNX_logo_main.png</a:t>
            </a:r>
          </a:p>
        </p:txBody>
      </p:sp>
      <p:pic>
        <p:nvPicPr>
          <p:cNvPr id="4" name="Picture 3" descr="Icon&#10;&#10;Description automatically generated">
            <a:extLst>
              <a:ext uri="{FF2B5EF4-FFF2-40B4-BE49-F238E27FC236}">
                <a16:creationId xmlns:a16="http://schemas.microsoft.com/office/drawing/2014/main" id="{F81134DB-1C8B-449F-84D5-0B3753B2B8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41381" y="5210117"/>
            <a:ext cx="4036194" cy="1038282"/>
          </a:xfrm>
          <a:prstGeom prst="rect">
            <a:avLst/>
          </a:prstGeom>
        </p:spPr>
      </p:pic>
    </p:spTree>
    <p:extLst>
      <p:ext uri="{BB962C8B-B14F-4D97-AF65-F5344CB8AC3E}">
        <p14:creationId xmlns:p14="http://schemas.microsoft.com/office/powerpoint/2010/main" val="4207366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76929-0E65-4025-B325-06C025A2003B}"/>
              </a:ext>
            </a:extLst>
          </p:cNvPr>
          <p:cNvSpPr>
            <a:spLocks noGrp="1"/>
          </p:cNvSpPr>
          <p:nvPr>
            <p:ph type="title"/>
          </p:nvPr>
        </p:nvSpPr>
        <p:spPr/>
        <p:txBody>
          <a:bodyPr/>
          <a:lstStyle/>
          <a:p>
            <a:r>
              <a:rPr lang="en-US" dirty="0"/>
              <a:t>License</a:t>
            </a:r>
          </a:p>
        </p:txBody>
      </p:sp>
      <p:pic>
        <p:nvPicPr>
          <p:cNvPr id="6" name="Content Placeholder 5">
            <a:extLst>
              <a:ext uri="{FF2B5EF4-FFF2-40B4-BE49-F238E27FC236}">
                <a16:creationId xmlns:a16="http://schemas.microsoft.com/office/drawing/2014/main" id="{ED86DE58-5824-4520-9482-9B02AFE2EA45}"/>
              </a:ext>
            </a:extLst>
          </p:cNvPr>
          <p:cNvPicPr>
            <a:picLocks noGrp="1" noChangeAspect="1"/>
          </p:cNvPicPr>
          <p:nvPr>
            <p:ph idx="1"/>
          </p:nvPr>
        </p:nvPicPr>
        <p:blipFill>
          <a:blip r:embed="rId2"/>
          <a:stretch>
            <a:fillRect/>
          </a:stretch>
        </p:blipFill>
        <p:spPr>
          <a:xfrm>
            <a:off x="2566495" y="2379704"/>
            <a:ext cx="7059010" cy="2753109"/>
          </a:xfrm>
        </p:spPr>
      </p:pic>
      <p:sp>
        <p:nvSpPr>
          <p:cNvPr id="7" name="TextBox 6">
            <a:extLst>
              <a:ext uri="{FF2B5EF4-FFF2-40B4-BE49-F238E27FC236}">
                <a16:creationId xmlns:a16="http://schemas.microsoft.com/office/drawing/2014/main" id="{5788FEB6-E93F-461F-BA62-0F1633E4F4F6}"/>
              </a:ext>
            </a:extLst>
          </p:cNvPr>
          <p:cNvSpPr txBox="1"/>
          <p:nvPr/>
        </p:nvSpPr>
        <p:spPr>
          <a:xfrm>
            <a:off x="0" y="6488668"/>
            <a:ext cx="12192000" cy="369332"/>
          </a:xfrm>
          <a:prstGeom prst="rect">
            <a:avLst/>
          </a:prstGeom>
          <a:noFill/>
        </p:spPr>
        <p:txBody>
          <a:bodyPr wrap="square" rtlCol="0">
            <a:spAutoFit/>
          </a:bodyPr>
          <a:lstStyle/>
          <a:p>
            <a:pPr algn="ctr"/>
            <a:r>
              <a:rPr lang="en-US" dirty="0"/>
              <a:t>https://tldrlegal.com/license/mit-license</a:t>
            </a:r>
          </a:p>
        </p:txBody>
      </p:sp>
      <p:sp>
        <p:nvSpPr>
          <p:cNvPr id="11" name="TextBox 10">
            <a:extLst>
              <a:ext uri="{FF2B5EF4-FFF2-40B4-BE49-F238E27FC236}">
                <a16:creationId xmlns:a16="http://schemas.microsoft.com/office/drawing/2014/main" id="{215A9A3D-31E9-457B-B3D7-BADA4A957A85}"/>
              </a:ext>
            </a:extLst>
          </p:cNvPr>
          <p:cNvSpPr txBox="1"/>
          <p:nvPr/>
        </p:nvSpPr>
        <p:spPr>
          <a:xfrm>
            <a:off x="2566495" y="2010372"/>
            <a:ext cx="7059010" cy="369332"/>
          </a:xfrm>
          <a:prstGeom prst="rect">
            <a:avLst/>
          </a:prstGeom>
          <a:noFill/>
        </p:spPr>
        <p:txBody>
          <a:bodyPr wrap="square" rtlCol="0">
            <a:spAutoFit/>
          </a:bodyPr>
          <a:lstStyle/>
          <a:p>
            <a:pPr algn="ctr"/>
            <a:r>
              <a:rPr lang="en-US" dirty="0"/>
              <a:t>MIT</a:t>
            </a:r>
          </a:p>
        </p:txBody>
      </p:sp>
    </p:spTree>
    <p:extLst>
      <p:ext uri="{BB962C8B-B14F-4D97-AF65-F5344CB8AC3E}">
        <p14:creationId xmlns:p14="http://schemas.microsoft.com/office/powerpoint/2010/main" val="32663709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3F96C-8EE6-431B-840E-935476A220CC}"/>
              </a:ext>
            </a:extLst>
          </p:cNvPr>
          <p:cNvSpPr>
            <a:spLocks noGrp="1"/>
          </p:cNvSpPr>
          <p:nvPr>
            <p:ph type="title"/>
          </p:nvPr>
        </p:nvSpPr>
        <p:spPr/>
        <p:txBody>
          <a:bodyPr/>
          <a:lstStyle/>
          <a:p>
            <a:r>
              <a:rPr lang="en-US" dirty="0"/>
              <a:t>ONNX Support</a:t>
            </a:r>
          </a:p>
        </p:txBody>
      </p:sp>
      <p:pic>
        <p:nvPicPr>
          <p:cNvPr id="7" name="Content Placeholder 6">
            <a:extLst>
              <a:ext uri="{FF2B5EF4-FFF2-40B4-BE49-F238E27FC236}">
                <a16:creationId xmlns:a16="http://schemas.microsoft.com/office/drawing/2014/main" id="{C9D81F4B-099B-408B-A83B-F76D787EFBC3}"/>
              </a:ext>
            </a:extLst>
          </p:cNvPr>
          <p:cNvPicPr>
            <a:picLocks noGrp="1" noChangeAspect="1"/>
          </p:cNvPicPr>
          <p:nvPr>
            <p:ph sz="half" idx="1"/>
          </p:nvPr>
        </p:nvPicPr>
        <p:blipFill>
          <a:blip r:embed="rId3"/>
          <a:stretch>
            <a:fillRect/>
          </a:stretch>
        </p:blipFill>
        <p:spPr>
          <a:xfrm>
            <a:off x="257454" y="2476173"/>
            <a:ext cx="5572602" cy="2299246"/>
          </a:xfrm>
        </p:spPr>
      </p:pic>
      <p:sp>
        <p:nvSpPr>
          <p:cNvPr id="5" name="Content Placeholder 4">
            <a:extLst>
              <a:ext uri="{FF2B5EF4-FFF2-40B4-BE49-F238E27FC236}">
                <a16:creationId xmlns:a16="http://schemas.microsoft.com/office/drawing/2014/main" id="{23378D38-7A2E-45DC-A7ED-54FEB70749BF}"/>
              </a:ext>
            </a:extLst>
          </p:cNvPr>
          <p:cNvSpPr>
            <a:spLocks noGrp="1"/>
          </p:cNvSpPr>
          <p:nvPr>
            <p:ph sz="half" idx="2"/>
          </p:nvPr>
        </p:nvSpPr>
        <p:spPr/>
        <p:txBody>
          <a:bodyPr>
            <a:normAutofit fontScale="92500" lnSpcReduction="20000"/>
          </a:bodyPr>
          <a:lstStyle/>
          <a:p>
            <a:r>
              <a:rPr lang="en-US" dirty="0"/>
              <a:t>Works with:</a:t>
            </a:r>
          </a:p>
          <a:p>
            <a:pPr lvl="1"/>
            <a:r>
              <a:rPr lang="en-US" dirty="0"/>
              <a:t>PyTorch</a:t>
            </a:r>
          </a:p>
          <a:p>
            <a:pPr lvl="1"/>
            <a:r>
              <a:rPr lang="en-US" dirty="0" err="1"/>
              <a:t>OnnxXmlTools</a:t>
            </a:r>
            <a:r>
              <a:rPr lang="en-US" dirty="0"/>
              <a:t> – </a:t>
            </a:r>
            <a:r>
              <a:rPr lang="en-US" dirty="0" err="1"/>
              <a:t>Keras.Net</a:t>
            </a:r>
            <a:r>
              <a:rPr lang="en-US" dirty="0"/>
              <a:t> to ONNX</a:t>
            </a:r>
          </a:p>
          <a:p>
            <a:pPr lvl="1"/>
            <a:r>
              <a:rPr lang="en-US" dirty="0"/>
              <a:t>scikit-learn (</a:t>
            </a:r>
            <a:r>
              <a:rPr lang="en-US" dirty="0" err="1"/>
              <a:t>SKLearn</a:t>
            </a:r>
            <a:r>
              <a:rPr lang="en-US" dirty="0"/>
              <a:t>)</a:t>
            </a:r>
          </a:p>
          <a:p>
            <a:pPr lvl="1"/>
            <a:r>
              <a:rPr lang="en-US" dirty="0"/>
              <a:t>Keras</a:t>
            </a:r>
          </a:p>
          <a:p>
            <a:pPr lvl="1"/>
            <a:r>
              <a:rPr lang="en-US" dirty="0"/>
              <a:t>TensorFlow</a:t>
            </a:r>
          </a:p>
          <a:p>
            <a:pPr lvl="1"/>
            <a:r>
              <a:rPr lang="en-US" dirty="0"/>
              <a:t>Azure AutoML</a:t>
            </a:r>
          </a:p>
          <a:p>
            <a:pPr lvl="1"/>
            <a:r>
              <a:rPr lang="en-US" dirty="0" err="1"/>
              <a:t>WinMLTools</a:t>
            </a:r>
            <a:r>
              <a:rPr lang="en-US" dirty="0"/>
              <a:t> – ML.NET to ONNX</a:t>
            </a:r>
          </a:p>
          <a:p>
            <a:pPr lvl="1"/>
            <a:r>
              <a:rPr lang="en-US" dirty="0"/>
              <a:t>Apple Core ML</a:t>
            </a:r>
          </a:p>
          <a:p>
            <a:r>
              <a:rPr lang="en-US" dirty="0"/>
              <a:t>Works with Hardware Accelerators</a:t>
            </a:r>
          </a:p>
          <a:p>
            <a:pPr lvl="1"/>
            <a:r>
              <a:rPr lang="en-US" dirty="0" err="1"/>
              <a:t>nVidia</a:t>
            </a:r>
            <a:r>
              <a:rPr lang="en-US" dirty="0"/>
              <a:t> CUDA</a:t>
            </a:r>
          </a:p>
          <a:p>
            <a:pPr lvl="1"/>
            <a:r>
              <a:rPr lang="en-US" dirty="0" err="1"/>
              <a:t>nVidia</a:t>
            </a:r>
            <a:r>
              <a:rPr lang="en-US" dirty="0"/>
              <a:t> </a:t>
            </a:r>
            <a:r>
              <a:rPr lang="en-US" dirty="0" err="1"/>
              <a:t>TensorRT</a:t>
            </a:r>
            <a:endParaRPr lang="en-US" dirty="0"/>
          </a:p>
          <a:p>
            <a:pPr lvl="1"/>
            <a:r>
              <a:rPr lang="en-US" dirty="0"/>
              <a:t>Intel </a:t>
            </a:r>
            <a:r>
              <a:rPr lang="en-US" dirty="0" err="1"/>
              <a:t>OpenVINO</a:t>
            </a:r>
            <a:endParaRPr lang="en-US" dirty="0"/>
          </a:p>
        </p:txBody>
      </p:sp>
      <p:sp>
        <p:nvSpPr>
          <p:cNvPr id="3" name="TextBox 2">
            <a:extLst>
              <a:ext uri="{FF2B5EF4-FFF2-40B4-BE49-F238E27FC236}">
                <a16:creationId xmlns:a16="http://schemas.microsoft.com/office/drawing/2014/main" id="{765E899E-8C69-42EF-8AED-44F9276D2CD1}"/>
              </a:ext>
            </a:extLst>
          </p:cNvPr>
          <p:cNvSpPr txBox="1"/>
          <p:nvPr/>
        </p:nvSpPr>
        <p:spPr>
          <a:xfrm>
            <a:off x="0" y="6488668"/>
            <a:ext cx="12191999" cy="369332"/>
          </a:xfrm>
          <a:prstGeom prst="rect">
            <a:avLst/>
          </a:prstGeom>
          <a:noFill/>
        </p:spPr>
        <p:txBody>
          <a:bodyPr wrap="square" rtlCol="0">
            <a:spAutoFit/>
          </a:bodyPr>
          <a:lstStyle/>
          <a:p>
            <a:pPr algn="ctr"/>
            <a:r>
              <a:rPr lang="en-US" dirty="0"/>
              <a:t>https://microsoft.github.io/onnxruntime/</a:t>
            </a:r>
          </a:p>
        </p:txBody>
      </p:sp>
    </p:spTree>
    <p:extLst>
      <p:ext uri="{BB962C8B-B14F-4D97-AF65-F5344CB8AC3E}">
        <p14:creationId xmlns:p14="http://schemas.microsoft.com/office/powerpoint/2010/main" val="1847762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18FB4-F721-4D98-9880-B3B4A672E4FA}"/>
              </a:ext>
            </a:extLst>
          </p:cNvPr>
          <p:cNvSpPr>
            <a:spLocks noGrp="1"/>
          </p:cNvSpPr>
          <p:nvPr>
            <p:ph type="title"/>
          </p:nvPr>
        </p:nvSpPr>
        <p:spPr/>
        <p:txBody>
          <a:bodyPr/>
          <a:lstStyle/>
          <a:p>
            <a:r>
              <a:rPr lang="en-US" dirty="0"/>
              <a:t>ONNX Model Support</a:t>
            </a:r>
          </a:p>
        </p:txBody>
      </p:sp>
      <p:sp>
        <p:nvSpPr>
          <p:cNvPr id="3" name="Content Placeholder 2">
            <a:extLst>
              <a:ext uri="{FF2B5EF4-FFF2-40B4-BE49-F238E27FC236}">
                <a16:creationId xmlns:a16="http://schemas.microsoft.com/office/drawing/2014/main" id="{5BBBF2F7-1C03-4FFB-820E-8ADE51A4DEED}"/>
              </a:ext>
            </a:extLst>
          </p:cNvPr>
          <p:cNvSpPr>
            <a:spLocks noGrp="1"/>
          </p:cNvSpPr>
          <p:nvPr>
            <p:ph sz="half" idx="1"/>
          </p:nvPr>
        </p:nvSpPr>
        <p:spPr/>
        <p:txBody>
          <a:bodyPr/>
          <a:lstStyle/>
          <a:p>
            <a:r>
              <a:rPr lang="en-US" dirty="0"/>
              <a:t>Feed Forward</a:t>
            </a:r>
          </a:p>
          <a:p>
            <a:r>
              <a:rPr lang="en-US" dirty="0"/>
              <a:t>Recurrent (RNN)</a:t>
            </a:r>
          </a:p>
          <a:p>
            <a:r>
              <a:rPr lang="en-US" dirty="0"/>
              <a:t>Convolutional (CNN)</a:t>
            </a:r>
          </a:p>
          <a:p>
            <a:r>
              <a:rPr lang="en-US" dirty="0"/>
              <a:t>GAN</a:t>
            </a:r>
          </a:p>
          <a:p>
            <a:r>
              <a:rPr lang="en-US" dirty="0"/>
              <a:t>Long Short-Term Memory (LSTM)</a:t>
            </a:r>
          </a:p>
          <a:p>
            <a:r>
              <a:rPr lang="en-US" dirty="0"/>
              <a:t>Markov Models</a:t>
            </a:r>
          </a:p>
          <a:p>
            <a:r>
              <a:rPr lang="en-US" dirty="0"/>
              <a:t>and many more…</a:t>
            </a:r>
          </a:p>
          <a:p>
            <a:r>
              <a:rPr lang="en-US" dirty="0"/>
              <a:t>And yes, even some LLMs</a:t>
            </a:r>
          </a:p>
          <a:p>
            <a:endParaRPr lang="en-US" dirty="0"/>
          </a:p>
        </p:txBody>
      </p:sp>
      <p:pic>
        <p:nvPicPr>
          <p:cNvPr id="1026" name="Picture 2" descr="The Neural Network Zoo - The Asimov Institute">
            <a:extLst>
              <a:ext uri="{FF2B5EF4-FFF2-40B4-BE49-F238E27FC236}">
                <a16:creationId xmlns:a16="http://schemas.microsoft.com/office/drawing/2014/main" id="{D7A624B4-97F4-4875-B44E-51E72CF5C52F}"/>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8185814" y="258468"/>
            <a:ext cx="3730040" cy="634106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E0EC9BD-04CE-4F7E-9F0A-286AA7B98C67}"/>
              </a:ext>
            </a:extLst>
          </p:cNvPr>
          <p:cNvSpPr txBox="1"/>
          <p:nvPr/>
        </p:nvSpPr>
        <p:spPr>
          <a:xfrm>
            <a:off x="0" y="6463665"/>
            <a:ext cx="8185814" cy="369332"/>
          </a:xfrm>
          <a:prstGeom prst="rect">
            <a:avLst/>
          </a:prstGeom>
          <a:noFill/>
        </p:spPr>
        <p:txBody>
          <a:bodyPr wrap="square" rtlCol="0">
            <a:spAutoFit/>
          </a:bodyPr>
          <a:lstStyle/>
          <a:p>
            <a:pPr algn="ctr"/>
            <a:r>
              <a:rPr lang="en-US" dirty="0"/>
              <a:t>https://www.asimovinstitute.org/neural-network-zoo/</a:t>
            </a:r>
          </a:p>
        </p:txBody>
      </p:sp>
    </p:spTree>
    <p:extLst>
      <p:ext uri="{BB962C8B-B14F-4D97-AF65-F5344CB8AC3E}">
        <p14:creationId xmlns:p14="http://schemas.microsoft.com/office/powerpoint/2010/main" val="3140339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0FEAD-5CA9-4F47-8AAF-5B56A65522E9}"/>
              </a:ext>
            </a:extLst>
          </p:cNvPr>
          <p:cNvSpPr>
            <a:spLocks noGrp="1"/>
          </p:cNvSpPr>
          <p:nvPr>
            <p:ph type="title"/>
          </p:nvPr>
        </p:nvSpPr>
        <p:spPr/>
        <p:txBody>
          <a:bodyPr/>
          <a:lstStyle/>
          <a:p>
            <a:r>
              <a:rPr lang="en-US" dirty="0"/>
              <a:t>Why do we care about ONNX?</a:t>
            </a:r>
          </a:p>
        </p:txBody>
      </p:sp>
      <p:sp>
        <p:nvSpPr>
          <p:cNvPr id="3" name="Content Placeholder 2">
            <a:extLst>
              <a:ext uri="{FF2B5EF4-FFF2-40B4-BE49-F238E27FC236}">
                <a16:creationId xmlns:a16="http://schemas.microsoft.com/office/drawing/2014/main" id="{4F0410FC-270E-40F0-8BCA-4E530ABBC371}"/>
              </a:ext>
            </a:extLst>
          </p:cNvPr>
          <p:cNvSpPr>
            <a:spLocks noGrp="1"/>
          </p:cNvSpPr>
          <p:nvPr>
            <p:ph sz="half" idx="1"/>
          </p:nvPr>
        </p:nvSpPr>
        <p:spPr/>
        <p:txBody>
          <a:bodyPr>
            <a:normAutofit fontScale="92500" lnSpcReduction="20000"/>
          </a:bodyPr>
          <a:lstStyle/>
          <a:p>
            <a:pPr marL="0" indent="0">
              <a:buNone/>
            </a:pPr>
            <a:r>
              <a:rPr lang="en-US" dirty="0"/>
              <a:t>As a ML Engineer (MLE):</a:t>
            </a:r>
          </a:p>
          <a:p>
            <a:pPr lvl="1"/>
            <a:r>
              <a:rPr lang="en-US" dirty="0"/>
              <a:t>Can use different libraries and languages to create models e.g. Billy likes PyTorch and John like Keras, so it doesn’t matter if they both deliver models in the ONNX format</a:t>
            </a:r>
          </a:p>
          <a:p>
            <a:pPr lvl="1"/>
            <a:r>
              <a:rPr lang="en-US" dirty="0"/>
              <a:t>We can use third-party libraries with the library of our choice</a:t>
            </a:r>
          </a:p>
          <a:p>
            <a:pPr lvl="1"/>
            <a:r>
              <a:rPr lang="en-US" dirty="0"/>
              <a:t>All without making the model any slower to run predictions</a:t>
            </a:r>
          </a:p>
        </p:txBody>
      </p:sp>
      <p:sp>
        <p:nvSpPr>
          <p:cNvPr id="4" name="Content Placeholder 3">
            <a:extLst>
              <a:ext uri="{FF2B5EF4-FFF2-40B4-BE49-F238E27FC236}">
                <a16:creationId xmlns:a16="http://schemas.microsoft.com/office/drawing/2014/main" id="{DE677CD9-F5B4-4D6F-9D71-386C2056D8C3}"/>
              </a:ext>
            </a:extLst>
          </p:cNvPr>
          <p:cNvSpPr>
            <a:spLocks noGrp="1"/>
          </p:cNvSpPr>
          <p:nvPr>
            <p:ph sz="half" idx="2"/>
          </p:nvPr>
        </p:nvSpPr>
        <p:spPr>
          <a:xfrm>
            <a:off x="5654493" y="2056092"/>
            <a:ext cx="5865612" cy="4200245"/>
          </a:xfrm>
        </p:spPr>
        <p:txBody>
          <a:bodyPr>
            <a:normAutofit fontScale="92500" lnSpcReduction="20000"/>
          </a:bodyPr>
          <a:lstStyle/>
          <a:p>
            <a:pPr marL="0" indent="0">
              <a:buNone/>
            </a:pPr>
            <a:r>
              <a:rPr lang="en-US" dirty="0"/>
              <a:t>As a developer:</a:t>
            </a:r>
          </a:p>
          <a:p>
            <a:pPr lvl="1"/>
            <a:r>
              <a:rPr lang="en-US" dirty="0"/>
              <a:t>Proper separation of concerns. MLEs can use Python because it is best suited to their job, and we (devs) can use C# because it is best suited to ours. Both teams can use the best tool for their job. I’ve seen a lot of companies get this wrong.</a:t>
            </a:r>
          </a:p>
          <a:p>
            <a:pPr lvl="1"/>
            <a:r>
              <a:rPr lang="en-US" dirty="0"/>
              <a:t>Decoupling. Having a shared interface means that teams can work independently without having one team waiting until the other team is finished before starting.</a:t>
            </a:r>
          </a:p>
          <a:p>
            <a:pPr lvl="1"/>
            <a:r>
              <a:rPr lang="en-US" dirty="0"/>
              <a:t>Provides a sharable format for using models across teams, platforms, and technology stacks. Removing all Python dependencies for .NET apps that want to run a model.</a:t>
            </a:r>
          </a:p>
          <a:p>
            <a:pPr lvl="1"/>
            <a:r>
              <a:rPr lang="en-US" dirty="0"/>
              <a:t>For our XOR example, this means we can deploy code consuming our model without the need to install Python or its dependencies in our production environments.</a:t>
            </a:r>
          </a:p>
          <a:p>
            <a:pPr lvl="1"/>
            <a:endParaRPr lang="en-US" dirty="0"/>
          </a:p>
        </p:txBody>
      </p:sp>
    </p:spTree>
    <p:extLst>
      <p:ext uri="{BB962C8B-B14F-4D97-AF65-F5344CB8AC3E}">
        <p14:creationId xmlns:p14="http://schemas.microsoft.com/office/powerpoint/2010/main" val="2149776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6C8E4-3A3C-4F96-BFF2-B256564792EF}"/>
              </a:ext>
            </a:extLst>
          </p:cNvPr>
          <p:cNvSpPr>
            <a:spLocks noGrp="1"/>
          </p:cNvSpPr>
          <p:nvPr>
            <p:ph type="title"/>
          </p:nvPr>
        </p:nvSpPr>
        <p:spPr/>
        <p:txBody>
          <a:bodyPr/>
          <a:lstStyle/>
          <a:p>
            <a:r>
              <a:rPr lang="en-US" dirty="0"/>
              <a:t>XOR</a:t>
            </a:r>
          </a:p>
        </p:txBody>
      </p:sp>
      <p:sp>
        <p:nvSpPr>
          <p:cNvPr id="3" name="Content Placeholder 2">
            <a:extLst>
              <a:ext uri="{FF2B5EF4-FFF2-40B4-BE49-F238E27FC236}">
                <a16:creationId xmlns:a16="http://schemas.microsoft.com/office/drawing/2014/main" id="{6D1F27DE-F9C3-4178-A923-45548B33F81C}"/>
              </a:ext>
            </a:extLst>
          </p:cNvPr>
          <p:cNvSpPr>
            <a:spLocks noGrp="1"/>
          </p:cNvSpPr>
          <p:nvPr>
            <p:ph sz="half" idx="1"/>
          </p:nvPr>
        </p:nvSpPr>
        <p:spPr/>
        <p:txBody>
          <a:bodyPr>
            <a:normAutofit/>
          </a:bodyPr>
          <a:lstStyle/>
          <a:p>
            <a:pPr marL="0" indent="0">
              <a:buNone/>
            </a:pPr>
            <a:r>
              <a:rPr lang="en-US" b="1" dirty="0"/>
              <a:t>Remember Option 3. Build Elsewhere and Run in C#</a:t>
            </a:r>
          </a:p>
          <a:p>
            <a:pPr marL="457200" indent="-457200">
              <a:buAutoNum type="arabicPeriod"/>
            </a:pPr>
            <a:r>
              <a:rPr lang="en-US" dirty="0"/>
              <a:t>Build (or download) a model wherever you like: Python, Java, Google Collab, </a:t>
            </a:r>
            <a:r>
              <a:rPr lang="en-US" dirty="0" err="1"/>
              <a:t>HuggingFace</a:t>
            </a:r>
            <a:r>
              <a:rPr lang="en-US" dirty="0"/>
              <a:t>, etc.</a:t>
            </a:r>
          </a:p>
          <a:p>
            <a:pPr marL="457200" indent="-457200">
              <a:buAutoNum type="arabicPeriod"/>
            </a:pPr>
            <a:r>
              <a:rPr lang="en-US" dirty="0"/>
              <a:t>Save the model to a format that can be consumed by C# (ONNX)</a:t>
            </a:r>
          </a:p>
          <a:p>
            <a:pPr marL="457200" indent="-457200">
              <a:buAutoNum type="arabicPeriod"/>
            </a:pPr>
            <a:r>
              <a:rPr lang="en-US" dirty="0"/>
              <a:t>Run the model in C# without external dependencies (ONNX Runtime)</a:t>
            </a:r>
          </a:p>
          <a:p>
            <a:endParaRPr lang="en-US" dirty="0"/>
          </a:p>
        </p:txBody>
      </p:sp>
      <p:sp>
        <p:nvSpPr>
          <p:cNvPr id="4" name="Content Placeholder 3">
            <a:extLst>
              <a:ext uri="{FF2B5EF4-FFF2-40B4-BE49-F238E27FC236}">
                <a16:creationId xmlns:a16="http://schemas.microsoft.com/office/drawing/2014/main" id="{C055EE96-81BC-6D0B-9472-4C6FEED43AC8}"/>
              </a:ext>
            </a:extLst>
          </p:cNvPr>
          <p:cNvSpPr>
            <a:spLocks noGrp="1"/>
          </p:cNvSpPr>
          <p:nvPr>
            <p:ph sz="half" idx="2"/>
          </p:nvPr>
        </p:nvSpPr>
        <p:spPr/>
        <p:txBody>
          <a:bodyPr>
            <a:normAutofit/>
          </a:bodyPr>
          <a:lstStyle/>
          <a:p>
            <a:r>
              <a:rPr lang="en-US" dirty="0"/>
              <a:t>Take our XOR model we created:</a:t>
            </a:r>
          </a:p>
          <a:p>
            <a:pPr lvl="1"/>
            <a:r>
              <a:rPr lang="en-US" dirty="0"/>
              <a:t>Export it to ONNX</a:t>
            </a:r>
          </a:p>
          <a:p>
            <a:pPr lvl="1"/>
            <a:r>
              <a:rPr lang="en-US" dirty="0"/>
              <a:t>Consume the ONNX model in Python</a:t>
            </a:r>
          </a:p>
          <a:p>
            <a:pPr lvl="1"/>
            <a:r>
              <a:rPr lang="en-US" dirty="0"/>
              <a:t>Consume the ONNX model is C#</a:t>
            </a:r>
          </a:p>
        </p:txBody>
      </p:sp>
    </p:spTree>
    <p:extLst>
      <p:ext uri="{BB962C8B-B14F-4D97-AF65-F5344CB8AC3E}">
        <p14:creationId xmlns:p14="http://schemas.microsoft.com/office/powerpoint/2010/main" val="1336350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2B239F65-809B-4ED5-B882-FDA0A9E3FE48}"/>
              </a:ext>
            </a:extLst>
          </p:cNvPr>
          <p:cNvPicPr>
            <a:picLocks noGrp="1" noChangeAspect="1"/>
          </p:cNvPicPr>
          <p:nvPr>
            <p:ph sz="half" idx="1"/>
          </p:nvPr>
        </p:nvPicPr>
        <p:blipFill>
          <a:blip r:embed="rId2"/>
          <a:stretch>
            <a:fillRect/>
          </a:stretch>
        </p:blipFill>
        <p:spPr>
          <a:xfrm>
            <a:off x="408372" y="1166669"/>
            <a:ext cx="5110964" cy="5341408"/>
          </a:xfrm>
        </p:spPr>
      </p:pic>
      <p:pic>
        <p:nvPicPr>
          <p:cNvPr id="8" name="Content Placeholder 7">
            <a:extLst>
              <a:ext uri="{FF2B5EF4-FFF2-40B4-BE49-F238E27FC236}">
                <a16:creationId xmlns:a16="http://schemas.microsoft.com/office/drawing/2014/main" id="{DC46AFB2-3DF2-4519-8223-4C96DA7B09A5}"/>
              </a:ext>
            </a:extLst>
          </p:cNvPr>
          <p:cNvPicPr>
            <a:picLocks noGrp="1" noChangeAspect="1"/>
          </p:cNvPicPr>
          <p:nvPr>
            <p:ph sz="half" idx="2"/>
          </p:nvPr>
        </p:nvPicPr>
        <p:blipFill>
          <a:blip r:embed="rId3"/>
          <a:stretch>
            <a:fillRect/>
          </a:stretch>
        </p:blipFill>
        <p:spPr>
          <a:xfrm>
            <a:off x="5647599" y="1166669"/>
            <a:ext cx="5848122" cy="5080678"/>
          </a:xfrm>
        </p:spPr>
      </p:pic>
      <p:sp>
        <p:nvSpPr>
          <p:cNvPr id="9" name="TextBox 8">
            <a:extLst>
              <a:ext uri="{FF2B5EF4-FFF2-40B4-BE49-F238E27FC236}">
                <a16:creationId xmlns:a16="http://schemas.microsoft.com/office/drawing/2014/main" id="{0686DCF7-6FA7-42F8-B7B6-1589E0F3B0AF}"/>
              </a:ext>
            </a:extLst>
          </p:cNvPr>
          <p:cNvSpPr txBox="1"/>
          <p:nvPr/>
        </p:nvSpPr>
        <p:spPr>
          <a:xfrm>
            <a:off x="408373" y="797337"/>
            <a:ext cx="5110964" cy="369332"/>
          </a:xfrm>
          <a:prstGeom prst="rect">
            <a:avLst/>
          </a:prstGeom>
          <a:noFill/>
        </p:spPr>
        <p:txBody>
          <a:bodyPr wrap="square" rtlCol="0">
            <a:spAutoFit/>
          </a:bodyPr>
          <a:lstStyle/>
          <a:p>
            <a:pPr algn="ctr"/>
            <a:r>
              <a:rPr lang="en-US" dirty="0"/>
              <a:t>Save XOR ONNX Model (Python)</a:t>
            </a:r>
          </a:p>
        </p:txBody>
      </p:sp>
      <p:sp>
        <p:nvSpPr>
          <p:cNvPr id="11" name="TextBox 10">
            <a:extLst>
              <a:ext uri="{FF2B5EF4-FFF2-40B4-BE49-F238E27FC236}">
                <a16:creationId xmlns:a16="http://schemas.microsoft.com/office/drawing/2014/main" id="{CE1E7C96-BD26-475C-9ADC-69C9651F4461}"/>
              </a:ext>
            </a:extLst>
          </p:cNvPr>
          <p:cNvSpPr txBox="1"/>
          <p:nvPr/>
        </p:nvSpPr>
        <p:spPr>
          <a:xfrm>
            <a:off x="5647599" y="797337"/>
            <a:ext cx="5848122" cy="369332"/>
          </a:xfrm>
          <a:prstGeom prst="rect">
            <a:avLst/>
          </a:prstGeom>
          <a:noFill/>
        </p:spPr>
        <p:txBody>
          <a:bodyPr wrap="square" rtlCol="0">
            <a:spAutoFit/>
          </a:bodyPr>
          <a:lstStyle/>
          <a:p>
            <a:pPr algn="ctr"/>
            <a:r>
              <a:rPr lang="en-US" dirty="0"/>
              <a:t>Use XOR ONNX Model (Python)</a:t>
            </a:r>
          </a:p>
        </p:txBody>
      </p:sp>
    </p:spTree>
    <p:extLst>
      <p:ext uri="{BB962C8B-B14F-4D97-AF65-F5344CB8AC3E}">
        <p14:creationId xmlns:p14="http://schemas.microsoft.com/office/powerpoint/2010/main" val="2153097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CAA27-F1A0-4960-BEC1-A49C39B7A526}"/>
              </a:ext>
            </a:extLst>
          </p:cNvPr>
          <p:cNvSpPr>
            <a:spLocks noGrp="1"/>
          </p:cNvSpPr>
          <p:nvPr>
            <p:ph type="title"/>
          </p:nvPr>
        </p:nvSpPr>
        <p:spPr/>
        <p:txBody>
          <a:bodyPr/>
          <a:lstStyle/>
          <a:p>
            <a:r>
              <a:rPr lang="en-US" dirty="0"/>
              <a:t>Consume XOR ONNX Model in C#</a:t>
            </a:r>
          </a:p>
        </p:txBody>
      </p:sp>
      <p:sp>
        <p:nvSpPr>
          <p:cNvPr id="3" name="Content Placeholder 2">
            <a:extLst>
              <a:ext uri="{FF2B5EF4-FFF2-40B4-BE49-F238E27FC236}">
                <a16:creationId xmlns:a16="http://schemas.microsoft.com/office/drawing/2014/main" id="{A972A11C-123B-47E4-BF09-1F5EC6A3F024}"/>
              </a:ext>
            </a:extLst>
          </p:cNvPr>
          <p:cNvSpPr>
            <a:spLocks noGrp="1"/>
          </p:cNvSpPr>
          <p:nvPr>
            <p:ph idx="1"/>
          </p:nvPr>
        </p:nvSpPr>
        <p:spPr>
          <a:xfrm>
            <a:off x="1103312" y="2052918"/>
            <a:ext cx="9722650" cy="4195481"/>
          </a:xfrm>
        </p:spPr>
        <p:txBody>
          <a:bodyPr>
            <a:normAutofit fontScale="92500" lnSpcReduction="10000"/>
          </a:bodyPr>
          <a:lstStyle/>
          <a:p>
            <a:r>
              <a:rPr lang="en-US" dirty="0"/>
              <a:t>Create C# Project</a:t>
            </a:r>
          </a:p>
          <a:p>
            <a:r>
              <a:rPr lang="en-US" dirty="0"/>
              <a:t>Add ONNX Runtime NuGet Package</a:t>
            </a:r>
          </a:p>
          <a:p>
            <a:endParaRPr lang="en-US" dirty="0"/>
          </a:p>
          <a:p>
            <a:endParaRPr lang="en-US" dirty="0"/>
          </a:p>
          <a:p>
            <a:endParaRPr lang="en-US" dirty="0"/>
          </a:p>
          <a:p>
            <a:pPr lvl="1"/>
            <a:endParaRPr lang="en-US" dirty="0"/>
          </a:p>
          <a:p>
            <a:pPr lvl="1"/>
            <a:r>
              <a:rPr lang="en-US" b="1" dirty="0"/>
              <a:t>Notes: </a:t>
            </a:r>
          </a:p>
          <a:p>
            <a:pPr lvl="2"/>
            <a:r>
              <a:rPr lang="en-US" dirty="0"/>
              <a:t>Don’t add both since they can conflict with one another and cause issues.</a:t>
            </a:r>
          </a:p>
          <a:p>
            <a:pPr lvl="2"/>
            <a:r>
              <a:rPr lang="en-US" dirty="0"/>
              <a:t>Using the GPU variant will use the GPU if available and CPU if it isn’t. So you can have that logic without recompiling.</a:t>
            </a:r>
          </a:p>
          <a:p>
            <a:pPr lvl="2"/>
            <a:r>
              <a:rPr lang="en-US" dirty="0"/>
              <a:t>Mac needs the non-GPU variant because it uses the </a:t>
            </a:r>
            <a:r>
              <a:rPr lang="en-US" dirty="0" err="1"/>
              <a:t>CoreML</a:t>
            </a:r>
            <a:r>
              <a:rPr lang="en-US" dirty="0"/>
              <a:t> provider, which isn’t included in the GPU variant.</a:t>
            </a:r>
          </a:p>
        </p:txBody>
      </p:sp>
      <p:pic>
        <p:nvPicPr>
          <p:cNvPr id="5" name="Picture 4">
            <a:extLst>
              <a:ext uri="{FF2B5EF4-FFF2-40B4-BE49-F238E27FC236}">
                <a16:creationId xmlns:a16="http://schemas.microsoft.com/office/drawing/2014/main" id="{45882745-DA8F-344A-AE43-801219199906}"/>
              </a:ext>
            </a:extLst>
          </p:cNvPr>
          <p:cNvPicPr>
            <a:picLocks noChangeAspect="1"/>
          </p:cNvPicPr>
          <p:nvPr/>
        </p:nvPicPr>
        <p:blipFill>
          <a:blip r:embed="rId2"/>
          <a:stretch>
            <a:fillRect/>
          </a:stretch>
        </p:blipFill>
        <p:spPr>
          <a:xfrm>
            <a:off x="1547466" y="2886179"/>
            <a:ext cx="7602011" cy="1486107"/>
          </a:xfrm>
          <a:prstGeom prst="rect">
            <a:avLst/>
          </a:prstGeom>
        </p:spPr>
      </p:pic>
    </p:spTree>
    <p:extLst>
      <p:ext uri="{BB962C8B-B14F-4D97-AF65-F5344CB8AC3E}">
        <p14:creationId xmlns:p14="http://schemas.microsoft.com/office/powerpoint/2010/main" val="2227256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F3A9C48E-88F9-4356-7A42-143C0D07DDFE}"/>
              </a:ext>
            </a:extLst>
          </p:cNvPr>
          <p:cNvPicPr>
            <a:picLocks noChangeAspect="1"/>
          </p:cNvPicPr>
          <p:nvPr/>
        </p:nvPicPr>
        <p:blipFill>
          <a:blip r:embed="rId2"/>
          <a:stretch>
            <a:fillRect/>
          </a:stretch>
        </p:blipFill>
        <p:spPr>
          <a:xfrm>
            <a:off x="1572946" y="67073"/>
            <a:ext cx="9046108" cy="6723854"/>
          </a:xfrm>
          <a:prstGeom prst="rect">
            <a:avLst/>
          </a:prstGeom>
        </p:spPr>
      </p:pic>
      <p:pic>
        <p:nvPicPr>
          <p:cNvPr id="15" name="Picture 14">
            <a:extLst>
              <a:ext uri="{FF2B5EF4-FFF2-40B4-BE49-F238E27FC236}">
                <a16:creationId xmlns:a16="http://schemas.microsoft.com/office/drawing/2014/main" id="{3AB30FE8-5A90-E180-0344-681306D80D27}"/>
              </a:ext>
            </a:extLst>
          </p:cNvPr>
          <p:cNvPicPr>
            <a:picLocks noChangeAspect="1"/>
          </p:cNvPicPr>
          <p:nvPr/>
        </p:nvPicPr>
        <p:blipFill>
          <a:blip r:embed="rId3"/>
          <a:stretch>
            <a:fillRect/>
          </a:stretch>
        </p:blipFill>
        <p:spPr>
          <a:xfrm>
            <a:off x="9706961" y="5324055"/>
            <a:ext cx="2295845" cy="1028844"/>
          </a:xfrm>
          <a:prstGeom prst="rect">
            <a:avLst/>
          </a:prstGeom>
        </p:spPr>
      </p:pic>
    </p:spTree>
    <p:extLst>
      <p:ext uri="{BB962C8B-B14F-4D97-AF65-F5344CB8AC3E}">
        <p14:creationId xmlns:p14="http://schemas.microsoft.com/office/powerpoint/2010/main" val="2519479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2AC5E-340B-4F3A-937A-EF5C2D2595EA}"/>
              </a:ext>
            </a:extLst>
          </p:cNvPr>
          <p:cNvSpPr>
            <a:spLocks noGrp="1"/>
          </p:cNvSpPr>
          <p:nvPr>
            <p:ph type="title"/>
          </p:nvPr>
        </p:nvSpPr>
        <p:spPr/>
        <p:txBody>
          <a:bodyPr/>
          <a:lstStyle/>
          <a:p>
            <a:r>
              <a:rPr lang="en-US" dirty="0"/>
              <a:t>ONNX File</a:t>
            </a:r>
          </a:p>
        </p:txBody>
      </p:sp>
      <p:pic>
        <p:nvPicPr>
          <p:cNvPr id="5" name="Picture 4" descr="Text, letter&#10;&#10;Description automatically generated">
            <a:extLst>
              <a:ext uri="{FF2B5EF4-FFF2-40B4-BE49-F238E27FC236}">
                <a16:creationId xmlns:a16="http://schemas.microsoft.com/office/drawing/2014/main" id="{4CA76E7A-A906-45A9-9A3E-FC35050FEA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5854" y="319554"/>
            <a:ext cx="2200146" cy="6130116"/>
          </a:xfrm>
          <a:prstGeom prst="rect">
            <a:avLst/>
          </a:prstGeom>
        </p:spPr>
      </p:pic>
      <p:pic>
        <p:nvPicPr>
          <p:cNvPr id="7" name="Picture 6" descr="Text&#10;&#10;Description automatically generated">
            <a:extLst>
              <a:ext uri="{FF2B5EF4-FFF2-40B4-BE49-F238E27FC236}">
                <a16:creationId xmlns:a16="http://schemas.microsoft.com/office/drawing/2014/main" id="{036B9426-71B1-437A-AF44-CCCE8D8BD4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3156" y="97655"/>
            <a:ext cx="1738204" cy="6485138"/>
          </a:xfrm>
          <a:prstGeom prst="rect">
            <a:avLst/>
          </a:prstGeom>
        </p:spPr>
      </p:pic>
      <p:pic>
        <p:nvPicPr>
          <p:cNvPr id="9" name="Picture 8" descr="A picture containing schematic&#10;&#10;Description automatically generated">
            <a:extLst>
              <a:ext uri="{FF2B5EF4-FFF2-40B4-BE49-F238E27FC236}">
                <a16:creationId xmlns:a16="http://schemas.microsoft.com/office/drawing/2014/main" id="{7AA10D6B-FCFC-4455-A54A-5C1BF7EDDF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28517" y="97655"/>
            <a:ext cx="1868534" cy="6573914"/>
          </a:xfrm>
          <a:prstGeom prst="rect">
            <a:avLst/>
          </a:prstGeom>
        </p:spPr>
      </p:pic>
    </p:spTree>
    <p:extLst>
      <p:ext uri="{BB962C8B-B14F-4D97-AF65-F5344CB8AC3E}">
        <p14:creationId xmlns:p14="http://schemas.microsoft.com/office/powerpoint/2010/main" val="41825602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009CD-2ACE-E5B4-5556-0A4A9E11329E}"/>
              </a:ext>
            </a:extLst>
          </p:cNvPr>
          <p:cNvSpPr>
            <a:spLocks noGrp="1"/>
          </p:cNvSpPr>
          <p:nvPr>
            <p:ph type="title"/>
          </p:nvPr>
        </p:nvSpPr>
        <p:spPr/>
        <p:txBody>
          <a:bodyPr/>
          <a:lstStyle/>
          <a:p>
            <a:r>
              <a:rPr lang="en-US" dirty="0"/>
              <a:t>ONNX Model Visual - NETRON</a:t>
            </a:r>
          </a:p>
        </p:txBody>
      </p:sp>
      <p:pic>
        <p:nvPicPr>
          <p:cNvPr id="5" name="Content Placeholder 4">
            <a:extLst>
              <a:ext uri="{FF2B5EF4-FFF2-40B4-BE49-F238E27FC236}">
                <a16:creationId xmlns:a16="http://schemas.microsoft.com/office/drawing/2014/main" id="{E90E7091-4A53-6CE5-35C2-B9D288F33A49}"/>
              </a:ext>
            </a:extLst>
          </p:cNvPr>
          <p:cNvPicPr>
            <a:picLocks noGrp="1" noChangeAspect="1"/>
          </p:cNvPicPr>
          <p:nvPr>
            <p:ph idx="1"/>
          </p:nvPr>
        </p:nvPicPr>
        <p:blipFill>
          <a:blip r:embed="rId2"/>
          <a:stretch>
            <a:fillRect/>
          </a:stretch>
        </p:blipFill>
        <p:spPr>
          <a:xfrm>
            <a:off x="3456637" y="1322446"/>
            <a:ext cx="5278726" cy="5082836"/>
          </a:xfrm>
          <a:prstGeom prst="rect">
            <a:avLst/>
          </a:prstGeom>
        </p:spPr>
      </p:pic>
    </p:spTree>
    <p:extLst>
      <p:ext uri="{BB962C8B-B14F-4D97-AF65-F5344CB8AC3E}">
        <p14:creationId xmlns:p14="http://schemas.microsoft.com/office/powerpoint/2010/main" val="34787122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AB14B-18CF-414A-9189-E650B552551A}"/>
              </a:ext>
            </a:extLst>
          </p:cNvPr>
          <p:cNvSpPr>
            <a:spLocks noGrp="1"/>
          </p:cNvSpPr>
          <p:nvPr>
            <p:ph type="title"/>
          </p:nvPr>
        </p:nvSpPr>
        <p:spPr/>
        <p:txBody>
          <a:bodyPr/>
          <a:lstStyle/>
          <a:p>
            <a:r>
              <a:rPr lang="en-US" dirty="0"/>
              <a:t>ONNX Caveats</a:t>
            </a:r>
          </a:p>
        </p:txBody>
      </p:sp>
      <p:sp>
        <p:nvSpPr>
          <p:cNvPr id="3" name="Content Placeholder 2">
            <a:extLst>
              <a:ext uri="{FF2B5EF4-FFF2-40B4-BE49-F238E27FC236}">
                <a16:creationId xmlns:a16="http://schemas.microsoft.com/office/drawing/2014/main" id="{C1B261A1-4ED2-4F6F-8784-92EFAE6C9126}"/>
              </a:ext>
            </a:extLst>
          </p:cNvPr>
          <p:cNvSpPr>
            <a:spLocks noGrp="1"/>
          </p:cNvSpPr>
          <p:nvPr>
            <p:ph sz="half" idx="1"/>
          </p:nvPr>
        </p:nvSpPr>
        <p:spPr/>
        <p:txBody>
          <a:bodyPr>
            <a:normAutofit/>
          </a:bodyPr>
          <a:lstStyle/>
          <a:p>
            <a:r>
              <a:rPr lang="en-US" dirty="0"/>
              <a:t>You may have to include additional DLLs to get ONNX working with CUDA</a:t>
            </a:r>
          </a:p>
          <a:p>
            <a:r>
              <a:rPr lang="en-US" dirty="0"/>
              <a:t>These are the CUDA and </a:t>
            </a:r>
            <a:r>
              <a:rPr lang="en-US" dirty="0" err="1"/>
              <a:t>cuDNN</a:t>
            </a:r>
            <a:r>
              <a:rPr lang="en-US" dirty="0"/>
              <a:t> versions, as well as the DLL locations for my </a:t>
            </a:r>
            <a:r>
              <a:rPr lang="en-US" dirty="0" err="1"/>
              <a:t>nVidia</a:t>
            </a:r>
            <a:r>
              <a:rPr lang="en-US" dirty="0"/>
              <a:t> RTX 5090 GPU</a:t>
            </a:r>
          </a:p>
          <a:p>
            <a:r>
              <a:rPr lang="en-US" dirty="0"/>
              <a:t>I recommend adding the CUDA provider and making sure the model is actually running on the GPU.</a:t>
            </a:r>
          </a:p>
        </p:txBody>
      </p:sp>
      <p:sp>
        <p:nvSpPr>
          <p:cNvPr id="4" name="Content Placeholder 3">
            <a:extLst>
              <a:ext uri="{FF2B5EF4-FFF2-40B4-BE49-F238E27FC236}">
                <a16:creationId xmlns:a16="http://schemas.microsoft.com/office/drawing/2014/main" id="{73656E85-972E-6AA7-10A1-48D9EB531A25}"/>
              </a:ext>
            </a:extLst>
          </p:cNvPr>
          <p:cNvSpPr>
            <a:spLocks noGrp="1"/>
          </p:cNvSpPr>
          <p:nvPr>
            <p:ph sz="half" idx="2"/>
          </p:nvPr>
        </p:nvSpPr>
        <p:spPr>
          <a:xfrm>
            <a:off x="5654493" y="2056092"/>
            <a:ext cx="6439615" cy="4200245"/>
          </a:xfrm>
        </p:spPr>
        <p:txBody>
          <a:bodyPr>
            <a:normAutofit/>
          </a:bodyPr>
          <a:lstStyle/>
          <a:p>
            <a:r>
              <a:rPr lang="en-US" sz="1500" b="1" dirty="0"/>
              <a:t>C:\Program Files\NVIDIA GPU Computing Toolkit\CUDA\v12.9\bin:</a:t>
            </a:r>
            <a:br>
              <a:rPr lang="en-US" sz="1500" b="1" dirty="0"/>
            </a:br>
            <a:r>
              <a:rPr lang="en-US" sz="1500" dirty="0"/>
              <a:t>cublas64_12.dll</a:t>
            </a:r>
            <a:br>
              <a:rPr lang="en-US" sz="1500" dirty="0"/>
            </a:br>
            <a:r>
              <a:rPr lang="en-US" sz="1500" dirty="0"/>
              <a:t>cublasLt64_12.dll</a:t>
            </a:r>
            <a:br>
              <a:rPr lang="en-US" sz="1500" dirty="0"/>
            </a:br>
            <a:r>
              <a:rPr lang="en-US" sz="1500" dirty="0"/>
              <a:t>cudart64_12.dll</a:t>
            </a:r>
            <a:br>
              <a:rPr lang="en-US" sz="1500" dirty="0"/>
            </a:br>
            <a:r>
              <a:rPr lang="en-US" sz="1500" dirty="0"/>
              <a:t>cufft64_11.dll</a:t>
            </a:r>
          </a:p>
          <a:p>
            <a:endParaRPr lang="en-US" sz="1500" b="1" dirty="0"/>
          </a:p>
          <a:p>
            <a:r>
              <a:rPr lang="en-US" sz="1500" b="1" dirty="0"/>
              <a:t>C:\Program Files\NVIDIA\CUDNN\v9.10\bin\12.9: </a:t>
            </a:r>
            <a:r>
              <a:rPr lang="en-US" sz="1500" dirty="0"/>
              <a:t>cudnn_adv64_9.dll</a:t>
            </a:r>
            <a:br>
              <a:rPr lang="en-US" sz="1500" dirty="0"/>
            </a:br>
            <a:r>
              <a:rPr lang="en-US" sz="1500" dirty="0"/>
              <a:t>cudnn_cnn64_9.dll</a:t>
            </a:r>
            <a:br>
              <a:rPr lang="en-US" sz="1500" dirty="0"/>
            </a:br>
            <a:r>
              <a:rPr lang="en-US" sz="1500" dirty="0"/>
              <a:t>cudnn_engines_precompiled64_9.dll</a:t>
            </a:r>
            <a:br>
              <a:rPr lang="en-US" sz="1500" dirty="0"/>
            </a:br>
            <a:r>
              <a:rPr lang="en-US" sz="1500" dirty="0"/>
              <a:t>cudnn_engines_runtime_compiled64_9.dll</a:t>
            </a:r>
            <a:br>
              <a:rPr lang="en-US" sz="1500" dirty="0"/>
            </a:br>
            <a:r>
              <a:rPr lang="en-US" sz="1500" dirty="0"/>
              <a:t>cudnn_graph64_9.dll</a:t>
            </a:r>
            <a:br>
              <a:rPr lang="en-US" sz="1500" dirty="0"/>
            </a:br>
            <a:r>
              <a:rPr lang="en-US" sz="1500" dirty="0"/>
              <a:t>cudnn_heuristic64_9.dll</a:t>
            </a:r>
            <a:br>
              <a:rPr lang="en-US" sz="1500" dirty="0"/>
            </a:br>
            <a:r>
              <a:rPr lang="en-US" sz="1500" dirty="0"/>
              <a:t>cudnn_ops64_9.dll</a:t>
            </a:r>
            <a:br>
              <a:rPr lang="en-US" sz="1500" dirty="0"/>
            </a:br>
            <a:r>
              <a:rPr lang="en-US" sz="1500" dirty="0"/>
              <a:t>cudnn64_9.dll</a:t>
            </a:r>
          </a:p>
          <a:p>
            <a:endParaRPr lang="en-US" dirty="0"/>
          </a:p>
          <a:p>
            <a:endParaRPr lang="en-US" dirty="0"/>
          </a:p>
        </p:txBody>
      </p:sp>
      <p:pic>
        <p:nvPicPr>
          <p:cNvPr id="6" name="Picture 5">
            <a:extLst>
              <a:ext uri="{FF2B5EF4-FFF2-40B4-BE49-F238E27FC236}">
                <a16:creationId xmlns:a16="http://schemas.microsoft.com/office/drawing/2014/main" id="{8BBE28EB-77F1-8BE5-9FC4-3091BF45D828}"/>
              </a:ext>
            </a:extLst>
          </p:cNvPr>
          <p:cNvPicPr>
            <a:picLocks noChangeAspect="1"/>
          </p:cNvPicPr>
          <p:nvPr/>
        </p:nvPicPr>
        <p:blipFill>
          <a:blip r:embed="rId2"/>
          <a:stretch>
            <a:fillRect/>
          </a:stretch>
        </p:blipFill>
        <p:spPr>
          <a:xfrm>
            <a:off x="891319" y="5563097"/>
            <a:ext cx="4820323" cy="609685"/>
          </a:xfrm>
          <a:prstGeom prst="rect">
            <a:avLst/>
          </a:prstGeom>
        </p:spPr>
      </p:pic>
    </p:spTree>
    <p:extLst>
      <p:ext uri="{BB962C8B-B14F-4D97-AF65-F5344CB8AC3E}">
        <p14:creationId xmlns:p14="http://schemas.microsoft.com/office/powerpoint/2010/main" val="2250266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7B491-ECBF-34EA-A08D-26CE5C55F9C2}"/>
              </a:ext>
            </a:extLst>
          </p:cNvPr>
          <p:cNvSpPr>
            <a:spLocks noGrp="1"/>
          </p:cNvSpPr>
          <p:nvPr>
            <p:ph type="title"/>
          </p:nvPr>
        </p:nvSpPr>
        <p:spPr/>
        <p:txBody>
          <a:bodyPr/>
          <a:lstStyle/>
          <a:p>
            <a:r>
              <a:rPr lang="en-US" sz="3800" dirty="0"/>
              <a:t>Other ways to Consume Models in C#</a:t>
            </a:r>
          </a:p>
        </p:txBody>
      </p:sp>
      <p:sp>
        <p:nvSpPr>
          <p:cNvPr id="3" name="Content Placeholder 2">
            <a:extLst>
              <a:ext uri="{FF2B5EF4-FFF2-40B4-BE49-F238E27FC236}">
                <a16:creationId xmlns:a16="http://schemas.microsoft.com/office/drawing/2014/main" id="{064DAF5A-A20E-C6F5-EC91-CA0851783DF0}"/>
              </a:ext>
            </a:extLst>
          </p:cNvPr>
          <p:cNvSpPr>
            <a:spLocks noGrp="1"/>
          </p:cNvSpPr>
          <p:nvPr>
            <p:ph idx="1"/>
          </p:nvPr>
        </p:nvSpPr>
        <p:spPr/>
        <p:txBody>
          <a:bodyPr>
            <a:normAutofit/>
          </a:bodyPr>
          <a:lstStyle/>
          <a:p>
            <a:r>
              <a:rPr lang="en-US" dirty="0"/>
              <a:t>Run the models using the code used to create them as shown for ML.NET and Keras.NET XOR examples (load model and call predict)</a:t>
            </a:r>
          </a:p>
          <a:p>
            <a:r>
              <a:rPr lang="en-US" dirty="0" err="1"/>
              <a:t>MLaaS</a:t>
            </a:r>
            <a:r>
              <a:rPr lang="en-US" dirty="0"/>
              <a:t> (Machine Learning as a Service): direct calls from C# to a ML service, typically over HTTP/REST or using SDK</a:t>
            </a:r>
          </a:p>
          <a:p>
            <a:pPr lvl="1"/>
            <a:r>
              <a:rPr lang="en-US" b="1" dirty="0"/>
              <a:t>OCR:</a:t>
            </a:r>
            <a:r>
              <a:rPr lang="en-US" dirty="0"/>
              <a:t> Azure Document Intelligence, AWS </a:t>
            </a:r>
            <a:r>
              <a:rPr lang="en-US" dirty="0" err="1"/>
              <a:t>Textract</a:t>
            </a:r>
            <a:r>
              <a:rPr lang="en-US" dirty="0"/>
              <a:t>, ABBYY</a:t>
            </a:r>
          </a:p>
          <a:p>
            <a:pPr lvl="1"/>
            <a:r>
              <a:rPr lang="en-US" b="1" dirty="0"/>
              <a:t>IDPS Comprehend </a:t>
            </a:r>
            <a:r>
              <a:rPr lang="en-US" dirty="0"/>
              <a:t>(document classification and data extraction service)</a:t>
            </a:r>
          </a:p>
          <a:p>
            <a:r>
              <a:rPr lang="en-US" dirty="0" err="1"/>
              <a:t>LLMaaS</a:t>
            </a:r>
            <a:r>
              <a:rPr lang="en-US" dirty="0"/>
              <a:t> (LLMs as a Service):</a:t>
            </a:r>
          </a:p>
          <a:p>
            <a:pPr lvl="1"/>
            <a:r>
              <a:rPr lang="en-US" b="1" dirty="0"/>
              <a:t>Direct:</a:t>
            </a:r>
            <a:r>
              <a:rPr lang="en-US" dirty="0"/>
              <a:t> OpenAI ChatGPT APIs, Claude Code</a:t>
            </a:r>
          </a:p>
          <a:p>
            <a:pPr lvl="1"/>
            <a:r>
              <a:rPr lang="en-US" b="1" dirty="0"/>
              <a:t>Indirect:</a:t>
            </a:r>
            <a:r>
              <a:rPr lang="en-US" dirty="0"/>
              <a:t> </a:t>
            </a:r>
            <a:r>
              <a:rPr lang="en-US" dirty="0" err="1"/>
              <a:t>Langchain</a:t>
            </a:r>
            <a:r>
              <a:rPr lang="en-US" dirty="0"/>
              <a:t>, </a:t>
            </a:r>
            <a:r>
              <a:rPr lang="en-US" dirty="0" err="1"/>
              <a:t>SemanticKernel</a:t>
            </a:r>
            <a:r>
              <a:rPr lang="en-US" dirty="0"/>
              <a:t>, Ollama, or </a:t>
            </a:r>
            <a:r>
              <a:rPr lang="en-US" dirty="0" err="1"/>
              <a:t>OpenRouter</a:t>
            </a:r>
            <a:endParaRPr lang="en-US" dirty="0"/>
          </a:p>
        </p:txBody>
      </p:sp>
    </p:spTree>
    <p:extLst>
      <p:ext uri="{BB962C8B-B14F-4D97-AF65-F5344CB8AC3E}">
        <p14:creationId xmlns:p14="http://schemas.microsoft.com/office/powerpoint/2010/main" val="1797455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72B96-A9DD-4FD7-8251-843A8AC1069C}"/>
              </a:ext>
            </a:extLst>
          </p:cNvPr>
          <p:cNvSpPr>
            <a:spLocks noGrp="1"/>
          </p:cNvSpPr>
          <p:nvPr>
            <p:ph type="title"/>
          </p:nvPr>
        </p:nvSpPr>
        <p:spPr/>
        <p:txBody>
          <a:bodyPr/>
          <a:lstStyle/>
          <a:p>
            <a:r>
              <a:rPr lang="en-US" dirty="0"/>
              <a:t>Links</a:t>
            </a:r>
          </a:p>
        </p:txBody>
      </p:sp>
      <p:sp>
        <p:nvSpPr>
          <p:cNvPr id="3" name="Content Placeholder 2">
            <a:extLst>
              <a:ext uri="{FF2B5EF4-FFF2-40B4-BE49-F238E27FC236}">
                <a16:creationId xmlns:a16="http://schemas.microsoft.com/office/drawing/2014/main" id="{B46E606B-0197-434C-9D55-6ABC866D4475}"/>
              </a:ext>
            </a:extLst>
          </p:cNvPr>
          <p:cNvSpPr>
            <a:spLocks noGrp="1"/>
          </p:cNvSpPr>
          <p:nvPr>
            <p:ph idx="1"/>
          </p:nvPr>
        </p:nvSpPr>
        <p:spPr/>
        <p:txBody>
          <a:bodyPr/>
          <a:lstStyle/>
          <a:p>
            <a:r>
              <a:rPr lang="en-US" dirty="0" err="1"/>
              <a:t>SciSharp</a:t>
            </a:r>
            <a:r>
              <a:rPr lang="en-US" dirty="0"/>
              <a:t> - </a:t>
            </a:r>
            <a:r>
              <a:rPr lang="en-US" dirty="0">
                <a:hlinkClick r:id="rId2"/>
              </a:rPr>
              <a:t>https://scisharp.github.io/SciSharp/</a:t>
            </a:r>
            <a:endParaRPr lang="en-US" dirty="0"/>
          </a:p>
          <a:p>
            <a:r>
              <a:rPr lang="en-US" dirty="0" err="1"/>
              <a:t>SciSharp</a:t>
            </a:r>
            <a:r>
              <a:rPr lang="en-US" dirty="0"/>
              <a:t> GitHub - </a:t>
            </a:r>
            <a:r>
              <a:rPr lang="en-US" dirty="0">
                <a:hlinkClick r:id="rId3"/>
              </a:rPr>
              <a:t>https://github.com/SciSharp</a:t>
            </a:r>
            <a:endParaRPr lang="en-US" dirty="0"/>
          </a:p>
          <a:p>
            <a:r>
              <a:rPr lang="en-US" dirty="0"/>
              <a:t>ONNX - </a:t>
            </a:r>
            <a:r>
              <a:rPr lang="en-US" dirty="0">
                <a:hlinkClick r:id="rId4"/>
              </a:rPr>
              <a:t>https://onnxruntime.ai/</a:t>
            </a:r>
            <a:endParaRPr lang="en-US" dirty="0"/>
          </a:p>
          <a:p>
            <a:r>
              <a:rPr lang="en-US" dirty="0"/>
              <a:t>ONNX GitHub - </a:t>
            </a:r>
            <a:r>
              <a:rPr lang="en-US" dirty="0">
                <a:hlinkClick r:id="rId5"/>
              </a:rPr>
              <a:t>https://github.com/microsoft/onnxruntime</a:t>
            </a:r>
            <a:endParaRPr lang="en-US" dirty="0"/>
          </a:p>
          <a:p>
            <a:r>
              <a:rPr lang="en-US" dirty="0"/>
              <a:t>ML.NET - </a:t>
            </a:r>
            <a:r>
              <a:rPr lang="en-US" dirty="0">
                <a:hlinkClick r:id="rId6"/>
              </a:rPr>
              <a:t>https://dotnet.microsoft.com/en-us/apps/ai/ml-dotnet</a:t>
            </a:r>
            <a:endParaRPr lang="en-US" dirty="0"/>
          </a:p>
          <a:p>
            <a:r>
              <a:rPr lang="en-US" dirty="0"/>
              <a:t>ML.NET Tutorials - </a:t>
            </a:r>
            <a:r>
              <a:rPr lang="en-US" dirty="0">
                <a:hlinkClick r:id="rId7"/>
              </a:rPr>
              <a:t>https://learn.microsoft.com/en-us/dotnet/machine-learning/tutorials/</a:t>
            </a:r>
            <a:endParaRPr lang="en-US" dirty="0"/>
          </a:p>
          <a:p>
            <a:endParaRPr lang="en-US" dirty="0"/>
          </a:p>
          <a:p>
            <a:endParaRPr lang="en-US" dirty="0"/>
          </a:p>
        </p:txBody>
      </p:sp>
      <p:pic>
        <p:nvPicPr>
          <p:cNvPr id="1028" name="Picture 4" descr="QR Code Image">
            <a:extLst>
              <a:ext uri="{FF2B5EF4-FFF2-40B4-BE49-F238E27FC236}">
                <a16:creationId xmlns:a16="http://schemas.microsoft.com/office/drawing/2014/main" id="{93045525-B201-E2AD-581E-19F44C477B4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88560" y="4442948"/>
            <a:ext cx="2045720" cy="204572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7FB57C0-3F82-B7E9-5586-FC3D01DB5898}"/>
              </a:ext>
            </a:extLst>
          </p:cNvPr>
          <p:cNvSpPr txBox="1"/>
          <p:nvPr/>
        </p:nvSpPr>
        <p:spPr>
          <a:xfrm>
            <a:off x="11012847" y="6488668"/>
            <a:ext cx="1021433" cy="369332"/>
          </a:xfrm>
          <a:prstGeom prst="rect">
            <a:avLst/>
          </a:prstGeom>
          <a:noFill/>
        </p:spPr>
        <p:txBody>
          <a:bodyPr wrap="none" rtlCol="0">
            <a:spAutoFit/>
          </a:bodyPr>
          <a:lstStyle/>
          <a:p>
            <a:r>
              <a:rPr lang="en-US" dirty="0"/>
              <a:t>This talk</a:t>
            </a:r>
          </a:p>
        </p:txBody>
      </p:sp>
    </p:spTree>
    <p:extLst>
      <p:ext uri="{BB962C8B-B14F-4D97-AF65-F5344CB8AC3E}">
        <p14:creationId xmlns:p14="http://schemas.microsoft.com/office/powerpoint/2010/main" val="4605967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C2BA2-AB45-45CF-BCB1-9360A86969E6}"/>
              </a:ext>
            </a:extLst>
          </p:cNvPr>
          <p:cNvSpPr>
            <a:spLocks noGrp="1"/>
          </p:cNvSpPr>
          <p:nvPr>
            <p:ph type="title"/>
          </p:nvPr>
        </p:nvSpPr>
        <p:spPr/>
        <p:txBody>
          <a:bodyPr/>
          <a:lstStyle/>
          <a:p>
            <a:r>
              <a:rPr lang="en-US" dirty="0"/>
              <a:t>Key Takeaways</a:t>
            </a:r>
          </a:p>
        </p:txBody>
      </p:sp>
      <p:sp>
        <p:nvSpPr>
          <p:cNvPr id="3" name="Content Placeholder 2">
            <a:extLst>
              <a:ext uri="{FF2B5EF4-FFF2-40B4-BE49-F238E27FC236}">
                <a16:creationId xmlns:a16="http://schemas.microsoft.com/office/drawing/2014/main" id="{ED45A433-E3F3-8809-76A0-8505190EC6F5}"/>
              </a:ext>
            </a:extLst>
          </p:cNvPr>
          <p:cNvSpPr>
            <a:spLocks noGrp="1"/>
          </p:cNvSpPr>
          <p:nvPr>
            <p:ph idx="1"/>
          </p:nvPr>
        </p:nvSpPr>
        <p:spPr/>
        <p:txBody>
          <a:bodyPr>
            <a:normAutofit fontScale="85000" lnSpcReduction="10000"/>
          </a:bodyPr>
          <a:lstStyle/>
          <a:p>
            <a:r>
              <a:rPr lang="en-US" dirty="0"/>
              <a:t>AI is more than just Generative AI, LLMs, and Agentic workflows. Each has its place and purpose. Not one is better than another. </a:t>
            </a:r>
          </a:p>
          <a:p>
            <a:pPr lvl="1"/>
            <a:r>
              <a:rPr lang="en-US" dirty="0"/>
              <a:t>I have document classifications models that far outperform LLMs in terms of both speed and accuracy, without all the overhead. My latest only takes 2ms to classify.</a:t>
            </a:r>
          </a:p>
          <a:p>
            <a:r>
              <a:rPr lang="en-US" dirty="0"/>
              <a:t>You can run virtually any ML model in C# using the ONNX Runtime, and you don’t need the additional baggage of Python and libraries used therein to create the models.</a:t>
            </a:r>
          </a:p>
          <a:p>
            <a:pPr lvl="1"/>
            <a:r>
              <a:rPr lang="en-US" dirty="0"/>
              <a:t>All models work pretty much the same way as described here.</a:t>
            </a:r>
          </a:p>
          <a:p>
            <a:r>
              <a:rPr lang="en-US" dirty="0"/>
              <a:t>Running ML models in C# via the ONNX Runtime is orders of magnitude faster than in Python.</a:t>
            </a:r>
          </a:p>
          <a:p>
            <a:pPr lvl="1"/>
            <a:r>
              <a:rPr lang="en-US" dirty="0"/>
              <a:t>Most of my models run about 20 times faster in C# then they do in Python without loss of accuracy or precision.</a:t>
            </a:r>
          </a:p>
          <a:p>
            <a:pPr lvl="1"/>
            <a:r>
              <a:rPr lang="en-US" dirty="0"/>
              <a:t>Running models in the ONNX Runtime in Python is about 2.5 times faster than running the equivalent PyTorch (or other frameworks) model that it was created from. So ONNX is recommended even if you are using Python as your main language.</a:t>
            </a:r>
          </a:p>
        </p:txBody>
      </p:sp>
    </p:spTree>
    <p:extLst>
      <p:ext uri="{BB962C8B-B14F-4D97-AF65-F5344CB8AC3E}">
        <p14:creationId xmlns:p14="http://schemas.microsoft.com/office/powerpoint/2010/main" val="3298222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D4CE1-2481-44D8-B371-667A1AE785B2}"/>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74B09344-6165-4C35-BED2-159A25A0402A}"/>
              </a:ext>
            </a:extLst>
          </p:cNvPr>
          <p:cNvSpPr>
            <a:spLocks noGrp="1"/>
          </p:cNvSpPr>
          <p:nvPr>
            <p:ph idx="1"/>
          </p:nvPr>
        </p:nvSpPr>
        <p:spPr/>
        <p:txBody>
          <a:bodyPr/>
          <a:lstStyle/>
          <a:p>
            <a:r>
              <a:rPr lang="en-US" dirty="0"/>
              <a:t>@bkorzynski</a:t>
            </a:r>
          </a:p>
          <a:p>
            <a:r>
              <a:rPr lang="en-US" dirty="0">
                <a:latin typeface="Futura LT Pro Book"/>
              </a:rPr>
              <a:t>@bkorzynski.bsky.social</a:t>
            </a:r>
          </a:p>
          <a:p>
            <a:r>
              <a:rPr lang="en-US" dirty="0"/>
              <a:t>github.com/</a:t>
            </a:r>
            <a:r>
              <a:rPr lang="en-US" dirty="0" err="1"/>
              <a:t>korz</a:t>
            </a:r>
            <a:endParaRPr lang="en-US" dirty="0"/>
          </a:p>
        </p:txBody>
      </p:sp>
      <p:pic>
        <p:nvPicPr>
          <p:cNvPr id="4" name="Picture 4" descr="QR Code Image">
            <a:extLst>
              <a:ext uri="{FF2B5EF4-FFF2-40B4-BE49-F238E27FC236}">
                <a16:creationId xmlns:a16="http://schemas.microsoft.com/office/drawing/2014/main" id="{75175DF9-3DC9-8DC3-E6D6-FA2BF57D8E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88560" y="4442948"/>
            <a:ext cx="2045720" cy="204572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3771506-E5E8-5483-CAA8-A9E23C61A948}"/>
              </a:ext>
            </a:extLst>
          </p:cNvPr>
          <p:cNvSpPr txBox="1"/>
          <p:nvPr/>
        </p:nvSpPr>
        <p:spPr>
          <a:xfrm>
            <a:off x="11012847" y="6488668"/>
            <a:ext cx="1021433" cy="369332"/>
          </a:xfrm>
          <a:prstGeom prst="rect">
            <a:avLst/>
          </a:prstGeom>
          <a:noFill/>
        </p:spPr>
        <p:txBody>
          <a:bodyPr wrap="none" rtlCol="0">
            <a:spAutoFit/>
          </a:bodyPr>
          <a:lstStyle/>
          <a:p>
            <a:r>
              <a:rPr lang="en-US" dirty="0"/>
              <a:t>This talk</a:t>
            </a:r>
          </a:p>
        </p:txBody>
      </p:sp>
    </p:spTree>
    <p:extLst>
      <p:ext uri="{BB962C8B-B14F-4D97-AF65-F5344CB8AC3E}">
        <p14:creationId xmlns:p14="http://schemas.microsoft.com/office/powerpoint/2010/main" val="391685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31897</TotalTime>
  <Words>2643</Words>
  <Application>Microsoft Office PowerPoint</Application>
  <PresentationFormat>Widescreen</PresentationFormat>
  <Paragraphs>288</Paragraphs>
  <Slides>49</Slides>
  <Notes>5</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Arial</vt:lpstr>
      <vt:lpstr>Calibri</vt:lpstr>
      <vt:lpstr>Century Gothic</vt:lpstr>
      <vt:lpstr>Futura LT Pro Book</vt:lpstr>
      <vt:lpstr>Wingdings 3</vt:lpstr>
      <vt:lpstr>Ion</vt:lpstr>
      <vt:lpstr>Machine Learning in C#</vt:lpstr>
      <vt:lpstr>About Me</vt:lpstr>
      <vt:lpstr>Disclaimer</vt:lpstr>
      <vt:lpstr>What is AI?</vt:lpstr>
      <vt:lpstr>What is ML?  How is it different than AI?</vt:lpstr>
      <vt:lpstr>Why C#?</vt:lpstr>
      <vt:lpstr>PowerPoint Presentation</vt:lpstr>
      <vt:lpstr>Mutual Exclusion (XOR) Problem</vt:lpstr>
      <vt:lpstr>Neural Network Diagram</vt:lpstr>
      <vt:lpstr>Perceptron</vt:lpstr>
      <vt:lpstr>PowerPoint Presentation</vt:lpstr>
      <vt:lpstr>Option1. ML.NET</vt:lpstr>
      <vt:lpstr>Code. Setup Data for Training</vt:lpstr>
      <vt:lpstr>Code. Setup, Train, and Save Model</vt:lpstr>
      <vt:lpstr>Code. Load Model and Perform Inference</vt:lpstr>
      <vt:lpstr>ML.NET</vt:lpstr>
      <vt:lpstr>Option2. SciSharp Stack</vt:lpstr>
      <vt:lpstr>SciSharp Stack</vt:lpstr>
      <vt:lpstr>Caveats for SciSharp</vt:lpstr>
      <vt:lpstr>PowerPoint Presentation</vt:lpstr>
      <vt:lpstr>Keras.NET (also uses TensorFlow and Numpy)</vt:lpstr>
      <vt:lpstr>Install Python and Packages</vt:lpstr>
      <vt:lpstr>Using Keras.NET</vt:lpstr>
      <vt:lpstr>PowerPoint Presentation</vt:lpstr>
      <vt:lpstr>PowerPoint Presentation</vt:lpstr>
      <vt:lpstr>PowerPoint Presentation</vt:lpstr>
      <vt:lpstr>PowerPoint Presentation</vt:lpstr>
      <vt:lpstr>Caveat for Keras.NET</vt:lpstr>
      <vt:lpstr>Keras.Net</vt:lpstr>
      <vt:lpstr>SciSharp Stack More Packages</vt:lpstr>
      <vt:lpstr>Option 3. Build Elsewhere and Run in C#</vt:lpstr>
      <vt:lpstr>PowerPoint Presentation</vt:lpstr>
      <vt:lpstr>First: A Question</vt:lpstr>
      <vt:lpstr>ONNX</vt:lpstr>
      <vt:lpstr>License</vt:lpstr>
      <vt:lpstr>ONNX Support</vt:lpstr>
      <vt:lpstr>ONNX Model Support</vt:lpstr>
      <vt:lpstr>Why do we care about ONNX?</vt:lpstr>
      <vt:lpstr>XOR</vt:lpstr>
      <vt:lpstr>PowerPoint Presentation</vt:lpstr>
      <vt:lpstr>Consume XOR ONNX Model in C#</vt:lpstr>
      <vt:lpstr>PowerPoint Presentation</vt:lpstr>
      <vt:lpstr>ONNX File</vt:lpstr>
      <vt:lpstr>ONNX Model Visual - NETRON</vt:lpstr>
      <vt:lpstr>ONNX Caveats</vt:lpstr>
      <vt:lpstr>Other ways to Consume Models in C#</vt:lpstr>
      <vt:lpstr>Links</vt:lpstr>
      <vt:lpstr>Key Takeaways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Brian Korzynski</dc:creator>
  <cp:lastModifiedBy>Brian Korzynski</cp:lastModifiedBy>
  <cp:revision>177</cp:revision>
  <dcterms:created xsi:type="dcterms:W3CDTF">2020-09-11T05:44:38Z</dcterms:created>
  <dcterms:modified xsi:type="dcterms:W3CDTF">2026-03-15T15:06:41Z</dcterms:modified>
</cp:coreProperties>
</file>